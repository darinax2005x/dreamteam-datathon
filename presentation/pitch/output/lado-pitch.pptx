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Камера уже фиксирует кассовую операцию. Но длинная запись не говорит проверяющему, с какого момента начинать разбор и на каком основании. Lado приводит специалиста к конкретному эпизоду и сохраняет связь между исходным временем, наблюдаемыми действиями, правилом и решением человека.
Источники слайда: contracts/product.json; README.md; identity/logo/lado-logo-on-stage.svg. CGI provenance: assets/imagegen/redesign-prompts.md.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Начну с результата. В одной демонстрационной записи длительностью двадцать целых девять десятых секунды Lado выделил эпизод с началом на шестнадцатой секунде. В этот момент сотрудник находился у выхода, та же инкассаторская сумка оставалась на столе, а рядом не было видимого сотрудника. Сервис вернул один эпизод и один кадр-доказательство. Этот критерий описывает демонстрационный кейс, а не норму законодательства.
Источники слайда: eval/reports/pitch-onset-release.json; eval/reports/modal-question-verification.json; rules/catalog/V-BAG-UNATTENDED.yaml.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 анализа разделён на две части. Система возвращает исходный таймкод, описание наблюдений, основание правила, ограничения и до трёх кадров с временными метками. Специалист отдельно принимает решение, добавляет заметку и при необходимости отмечает, что сцена неразличима. Поэтому автоматическое наблюдение не подменяет внутренний контроль.
Источники слайда: README.md; contracts/openapi.json; contracts/schemas/Finding.json; contracts/schemas/Decision.json.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техническая задача находится во времени. На каждом интервале система связывает участников и кассовые предметы, различает состояние наличных и действие, а затем сохраняет порядок событий. Передача, пересчёт и работа с той же пачкой имеют смысл только вместе с ролями, видимостью и общим временным окном. Правило получает эту последовательность, а не один изолированный кадр.
Источники слайда: README.md, sections “Действия во времени” and “Факты и правила”; backend/navidu/perception/grounding.py; rules/catalog/V-COUNT-ABSENT.yaml.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Восприятие строится в три слоя. Специализированный детектор ищет руки, наличные, удостоверения и счётчики. Трекинг связывает людей и предметы между кадрами. Qwen3-VL анализирует последовательность действий, после чего программная проверка сверяет идентификаторы объектов и интервалы. CGI на слайде является концептуальной иллюстрацией предметов, а не кадром из банка или результатом анализа.
Источники слайда: README.md; backend/navidu/perception/object_detector.py; backend/navidu/perception/qwen.py; backend/navidu/perception/grounding.py. CGI provenance: assets/imagegen/redesign-prompts.md.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уровень вывода имеет свою границу. Наличные в руках или на столе являются наблюдаемым состоянием. Передача или пересчёт требуют подтверждённого действия во времени. Правило проверяет роли, порядок, обзор и интервал, а также хранит источник и ограничения применимости. После этого человек сопоставляет эпизод с процедурой и принимает итоговое решение.
Источники слайда: README.md; rules/catalog/V-COUNT-ABSENT.yaml; rules/catalog/V-CASH-UNSECURED.yaml; rules/sources/not-visual.yaml; contracts/schemas/Decision.json.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Рабочий сервис принимает запись через защищённый API и возвращает результат для проверки. Само видео, веса моделей и inference находятся в частном контуре проекта на Modal L4. Запись не отправляется во внешние AI API. Правила отделены от моделей, а решение специалиста сохраняется отдельно от автоматического наблюдения.
Источники слайда: README.md; deploy/modal_app.py; contracts/openapi.json; eval/reports/pitch-onset-release.json.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Предлагаю проверить Lado на ваших сценариях. Можно выбрать один процесс контроля, согласовать критерии и источники, затем сопоставить найденные эпизоды с решениями специалистов. Рабочий сервис и HTTP API уже доступны, а репозиторий открывается по приглашению.
Источники слайда: README.md; working service URL; repository URL supplied by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DO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darinax2005x--lado-ladoservice-web.us-east.modal.run/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hyperlink" Target="https://darinax2005x--lado-ladoservice-web.us-east.modal.run/app" TargetMode="External"/><Relationship Id="rId8" Type="http://schemas.openxmlformats.org/officeDocument/2006/relationships/hyperlink" Target="https://github.com/DarinaX2005X/dreamteam-datathon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CGI" descr="Оригинальная CGI-иллюстрация счётчика и стопок чистой бумаги без банковских данны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ado logo" descr="Lado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93776"/>
            <a:ext cx="1719072" cy="557784"/>
          </a:xfrm>
          <a:prstGeom prst="rect">
            <a:avLst/>
          </a:prstGeom>
        </p:spPr>
      </p:pic>
      <p:sp>
        <p:nvSpPr>
          <p:cNvPr id="4" name="Cover title"/>
          <p:cNvSpPr txBox="1"/>
          <p:nvPr/>
        </p:nvSpPr>
        <p:spPr>
          <a:xfrm>
            <a:off x="658368" y="1426464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Всё важное</a:t>
            </a:r>
            <a:endParaRPr lang="en-US" sz="5700" dirty="0"/>
          </a:p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виду.</a:t>
            </a:r>
            <a:endParaRPr lang="en-US" sz="5700" dirty="0"/>
          </a:p>
        </p:txBody>
      </p:sp>
      <p:sp>
        <p:nvSpPr>
          <p:cNvPr id="5" name="Product line"/>
          <p:cNvSpPr txBox="1"/>
          <p:nvPr/>
        </p:nvSpPr>
        <p:spPr>
          <a:xfrm>
            <a:off x="694944" y="3218688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кассовых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операций по видео</a:t>
            </a:r>
            <a:endParaRPr lang="en-US" sz="2500" dirty="0"/>
          </a:p>
        </p:txBody>
      </p:sp>
      <p:sp>
        <p:nvSpPr>
          <p:cNvPr id="6" name="Product promise"/>
          <p:cNvSpPr txBox="1"/>
          <p:nvPr/>
        </p:nvSpPr>
        <p:spPr>
          <a:xfrm>
            <a:off x="694944" y="4187952"/>
            <a:ext cx="44988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Lado приводит специалиста к моменту, который стоит проверить.</a:t>
            </a:r>
            <a:endParaRPr lang="en-US" sz="2300" dirty="0"/>
          </a:p>
        </p:txBody>
      </p:sp>
      <p:sp>
        <p:nvSpPr>
          <p:cNvPr id="7" name="Service link">
            <a:hlinkClick r:id="rId4" tooltip=""/>
          </p:cNvPr>
          <p:cNvSpPr txBox="1"/>
          <p:nvPr/>
        </p:nvSpPr>
        <p:spPr>
          <a:xfrm>
            <a:off x="694944" y="5650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сервис ↗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записи к эпизоду</a:t>
            </a:r>
            <a:endParaRPr lang="en-US" sz="4600" dirty="0"/>
          </a:p>
        </p:txBody>
      </p:sp>
      <p:sp>
        <p:nvSpPr>
          <p:cNvPr id="3" name="Onset value"/>
          <p:cNvSpPr txBox="1"/>
          <p:nvPr/>
        </p:nvSpPr>
        <p:spPr>
          <a:xfrm>
            <a:off x="658368" y="1417320"/>
            <a:ext cx="5029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0" b="1" dirty="0">
                <a:solidFill>
                  <a:srgbClr val="FF6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16,0</a:t>
            </a:r>
            <a:endParaRPr lang="en-US" sz="9400" dirty="0"/>
          </a:p>
        </p:txBody>
      </p:sp>
      <p:sp>
        <p:nvSpPr>
          <p:cNvPr id="4" name="Onset meaning"/>
          <p:cNvSpPr txBox="1"/>
          <p:nvPr/>
        </p:nvSpPr>
        <p:spPr>
          <a:xfrm>
            <a:off x="713232" y="28620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секунда начала эпизода</a:t>
            </a:r>
            <a:endParaRPr lang="en-US" sz="2500" dirty="0"/>
          </a:p>
        </p:txBody>
      </p:sp>
      <p:sp>
        <p:nvSpPr>
          <p:cNvPr id="5" name="Case scope"/>
          <p:cNvSpPr txBox="1"/>
          <p:nvPr/>
        </p:nvSpPr>
        <p:spPr>
          <a:xfrm>
            <a:off x="713232" y="350215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демонстрационный сценарий, запись 20,9 с</a:t>
            </a:r>
            <a:endParaRPr lang="en-US" sz="2000" dirty="0"/>
          </a:p>
        </p:txBody>
      </p:sp>
      <p:sp>
        <p:nvSpPr>
          <p:cNvPr id="6" name="Case fact 1"/>
          <p:cNvSpPr txBox="1"/>
          <p:nvPr/>
        </p:nvSpPr>
        <p:spPr>
          <a:xfrm>
            <a:off x="6446520" y="1490472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Сотрудник у выхода</a:t>
            </a:r>
            <a:endParaRPr lang="en-US" sz="2700" dirty="0"/>
          </a:p>
        </p:txBody>
      </p:sp>
      <p:sp>
        <p:nvSpPr>
          <p:cNvPr id="7" name="Case detail 1"/>
          <p:cNvSpPr txBox="1"/>
          <p:nvPr/>
        </p:nvSpPr>
        <p:spPr>
          <a:xfrm>
            <a:off x="6446520" y="200253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движение подтверждено по последовательности</a:t>
            </a:r>
            <a:endParaRPr lang="en-US" sz="2200" dirty="0"/>
          </a:p>
        </p:txBody>
      </p:sp>
      <p:sp>
        <p:nvSpPr>
          <p:cNvPr id="8" name="Case fact 2"/>
          <p:cNvSpPr txBox="1"/>
          <p:nvPr/>
        </p:nvSpPr>
        <p:spPr>
          <a:xfrm>
            <a:off x="6446520" y="278892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 же сумка на столе</a:t>
            </a:r>
            <a:endParaRPr lang="en-US" sz="2700" dirty="0"/>
          </a:p>
        </p:txBody>
      </p:sp>
      <p:sp>
        <p:nvSpPr>
          <p:cNvPr id="9" name="Case detail 2"/>
          <p:cNvSpPr txBox="1"/>
          <p:nvPr/>
        </p:nvSpPr>
        <p:spPr>
          <a:xfrm>
            <a:off x="6446520" y="330098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предмет остался после ухода</a:t>
            </a:r>
            <a:endParaRPr lang="en-US" sz="2200" dirty="0"/>
          </a:p>
        </p:txBody>
      </p:sp>
      <p:sp>
        <p:nvSpPr>
          <p:cNvPr id="10" name="Case fact 3"/>
          <p:cNvSpPr txBox="1"/>
          <p:nvPr/>
        </p:nvSpPr>
        <p:spPr>
          <a:xfrm>
            <a:off x="6446520" y="408736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877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Место без сотрудника</a:t>
            </a:r>
            <a:endParaRPr lang="en-US" sz="2700" dirty="0"/>
          </a:p>
        </p:txBody>
      </p:sp>
      <p:sp>
        <p:nvSpPr>
          <p:cNvPr id="11" name="Case detail 3"/>
          <p:cNvSpPr txBox="1"/>
          <p:nvPr/>
        </p:nvSpPr>
        <p:spPr>
          <a:xfrm>
            <a:off x="6446520" y="4599432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условия совпали в одном окне</a:t>
            </a:r>
            <a:endParaRPr lang="en-US" sz="2200" dirty="0"/>
          </a:p>
        </p:txBody>
      </p:sp>
      <p:sp>
        <p:nvSpPr>
          <p:cNvPr id="12" name="Source timeline"/>
          <p:cNvSpPr/>
          <p:nvPr/>
        </p:nvSpPr>
        <p:spPr>
          <a:xfrm>
            <a:off x="749808" y="5897880"/>
            <a:ext cx="10680192" cy="0"/>
          </a:xfrm>
          <a:prstGeom prst="line">
            <a:avLst/>
          </a:prstGeom>
          <a:noFill/>
          <a:ln w="50800">
            <a:solidFill>
              <a:srgbClr val="D9C8CF"/>
            </a:solidFill>
            <a:prstDash val="solid"/>
          </a:ln>
        </p:spPr>
      </p:sp>
      <p:sp>
        <p:nvSpPr>
          <p:cNvPr id="13" name="Timeline to onset"/>
          <p:cNvSpPr/>
          <p:nvPr/>
        </p:nvSpPr>
        <p:spPr>
          <a:xfrm>
            <a:off x="749808" y="5897880"/>
            <a:ext cx="8174736" cy="0"/>
          </a:xfrm>
          <a:prstGeom prst="line">
            <a:avLst/>
          </a:prstGeom>
          <a:noFill/>
          <a:ln w="50800">
            <a:solidFill>
              <a:srgbClr val="FF6A3D"/>
            </a:solidFill>
            <a:prstDash val="solid"/>
          </a:ln>
        </p:spPr>
      </p:sp>
      <p:sp>
        <p:nvSpPr>
          <p:cNvPr id="14" name="Onset marker"/>
          <p:cNvSpPr/>
          <p:nvPr/>
        </p:nvSpPr>
        <p:spPr>
          <a:xfrm>
            <a:off x="8796528" y="5769864"/>
            <a:ext cx="256032" cy="256032"/>
          </a:xfrm>
          <a:prstGeom prst="ellipse">
            <a:avLst/>
          </a:prstGeom>
          <a:solidFill>
            <a:srgbClr val="FF6A3D"/>
          </a:solidFill>
          <a:ln w="12700">
            <a:solidFill>
              <a:srgbClr val="FF6A3D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6126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начало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76488" y="61539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16,0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671048" y="61539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20,9 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получает специалист</a:t>
            </a:r>
            <a:endParaRPr lang="en-US" sz="4600" dirty="0"/>
          </a:p>
        </p:txBody>
      </p:sp>
      <p:sp>
        <p:nvSpPr>
          <p:cNvPr id="3" name="Editorial divider"/>
          <p:cNvSpPr/>
          <p:nvPr/>
        </p:nvSpPr>
        <p:spPr>
          <a:xfrm>
            <a:off x="6931152" y="1417320"/>
            <a:ext cx="0" cy="4736592"/>
          </a:xfrm>
          <a:prstGeom prst="line">
            <a:avLst/>
          </a:prstGeom>
          <a:noFill/>
          <a:ln w="19050">
            <a:solidFill>
              <a:srgbClr val="D9C8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4813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Система возвращает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1488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Таймкод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816352" y="2121408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точка входа в запись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0358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Наблюдения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816352" y="3008376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участники, предметы, действия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92277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Основание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3895344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условия и ограничения правила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8097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6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3 кадров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090672" y="480060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кадры с временной меткой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479792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Специалист решает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479792" y="2258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Подтвердить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31272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Отклонить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7479792" y="3995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77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видно</a:t>
            </a:r>
            <a:endParaRPr lang="en-US" sz="3100" dirty="0"/>
          </a:p>
        </p:txBody>
      </p:sp>
      <p:sp>
        <p:nvSpPr>
          <p:cNvPr id="17" name="Text 15"/>
          <p:cNvSpPr txBox="1"/>
          <p:nvPr/>
        </p:nvSpPr>
        <p:spPr>
          <a:xfrm>
            <a:off x="7479792" y="501091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Добавить заметку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79792" y="5431536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 хранится отдельно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наблюдений.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Связи во времени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94944" y="1143000"/>
            <a:ext cx="9966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кадр показывает состояние.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Последовательность показывает действие.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0025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Участники</a:t>
            </a:r>
            <a:endParaRPr lang="en-US" sz="2300" dirty="0"/>
          </a:p>
        </p:txBody>
      </p:sp>
      <p:sp>
        <p:nvSpPr>
          <p:cNvPr id="5" name="Участники baseline"/>
          <p:cNvSpPr/>
          <p:nvPr/>
        </p:nvSpPr>
        <p:spPr>
          <a:xfrm>
            <a:off x="2788920" y="2148840"/>
            <a:ext cx="8412480" cy="0"/>
          </a:xfrm>
          <a:prstGeom prst="line">
            <a:avLst/>
          </a:prstGeom>
          <a:noFill/>
          <a:ln w="25400">
            <a:solidFill>
              <a:srgbClr val="6A4758"/>
            </a:solidFill>
            <a:prstDash val="solid"/>
          </a:ln>
        </p:spPr>
      </p:sp>
      <p:sp>
        <p:nvSpPr>
          <p:cNvPr id="6" name="Участники interval 1"/>
          <p:cNvSpPr/>
          <p:nvPr/>
        </p:nvSpPr>
        <p:spPr>
          <a:xfrm>
            <a:off x="3630168" y="2148840"/>
            <a:ext cx="3196742" cy="0"/>
          </a:xfrm>
          <a:prstGeom prst="line">
            <a:avLst/>
          </a:prstGeom>
          <a:noFill/>
          <a:ln w="101600">
            <a:solidFill>
              <a:srgbClr val="61C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0168" y="1673352"/>
            <a:ext cx="31967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</a:t>
            </a:r>
            <a:endParaRPr lang="en-US" sz="2000" dirty="0"/>
          </a:p>
        </p:txBody>
      </p:sp>
      <p:sp>
        <p:nvSpPr>
          <p:cNvPr id="8" name="Участники interval 2"/>
          <p:cNvSpPr/>
          <p:nvPr/>
        </p:nvSpPr>
        <p:spPr>
          <a:xfrm>
            <a:off x="7163410" y="2148840"/>
            <a:ext cx="3196742" cy="0"/>
          </a:xfrm>
          <a:prstGeom prst="line">
            <a:avLst/>
          </a:prstGeom>
          <a:noFill/>
          <a:ln w="101600">
            <a:solidFill>
              <a:srgbClr val="FC93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63410" y="1673352"/>
            <a:ext cx="31967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кассир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8986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Наличные</a:t>
            </a:r>
            <a:endParaRPr lang="en-US" sz="2300" dirty="0"/>
          </a:p>
        </p:txBody>
      </p:sp>
      <p:sp>
        <p:nvSpPr>
          <p:cNvPr id="11" name="Наличные baseline"/>
          <p:cNvSpPr/>
          <p:nvPr/>
        </p:nvSpPr>
        <p:spPr>
          <a:xfrm>
            <a:off x="2788920" y="3044952"/>
            <a:ext cx="8412480" cy="0"/>
          </a:xfrm>
          <a:prstGeom prst="line">
            <a:avLst/>
          </a:prstGeom>
          <a:noFill/>
          <a:ln w="25400">
            <a:solidFill>
              <a:srgbClr val="6A4758"/>
            </a:solidFill>
            <a:prstDash val="solid"/>
          </a:ln>
        </p:spPr>
      </p:sp>
      <p:sp>
        <p:nvSpPr>
          <p:cNvPr id="12" name="Наличные interval 1"/>
          <p:cNvSpPr/>
          <p:nvPr/>
        </p:nvSpPr>
        <p:spPr>
          <a:xfrm>
            <a:off x="4134917" y="3044952"/>
            <a:ext cx="5720486" cy="0"/>
          </a:xfrm>
          <a:prstGeom prst="line">
            <a:avLst/>
          </a:prstGeom>
          <a:noFill/>
          <a:ln w="101600">
            <a:solidFill>
              <a:srgbClr val="FF6A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34917" y="2569464"/>
            <a:ext cx="57204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 же пачка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794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Действия</a:t>
            </a:r>
            <a:endParaRPr lang="en-US" sz="2300" dirty="0"/>
          </a:p>
        </p:txBody>
      </p:sp>
      <p:sp>
        <p:nvSpPr>
          <p:cNvPr id="15" name="Действия baseline"/>
          <p:cNvSpPr/>
          <p:nvPr/>
        </p:nvSpPr>
        <p:spPr>
          <a:xfrm>
            <a:off x="2788920" y="3941064"/>
            <a:ext cx="8412480" cy="0"/>
          </a:xfrm>
          <a:prstGeom prst="line">
            <a:avLst/>
          </a:prstGeom>
          <a:noFill/>
          <a:ln w="25400">
            <a:solidFill>
              <a:srgbClr val="6A4758"/>
            </a:solidFill>
            <a:prstDash val="solid"/>
          </a:ln>
        </p:spPr>
      </p:sp>
      <p:sp>
        <p:nvSpPr>
          <p:cNvPr id="16" name="Действия interval 1"/>
          <p:cNvSpPr/>
          <p:nvPr/>
        </p:nvSpPr>
        <p:spPr>
          <a:xfrm>
            <a:off x="4471416" y="3941064"/>
            <a:ext cx="1514246" cy="0"/>
          </a:xfrm>
          <a:prstGeom prst="line">
            <a:avLst/>
          </a:prstGeom>
          <a:noFill/>
          <a:ln w="101600">
            <a:solidFill>
              <a:srgbClr val="FC93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71416" y="34655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передача</a:t>
            </a:r>
            <a:endParaRPr lang="en-US" sz="2000" dirty="0"/>
          </a:p>
        </p:txBody>
      </p:sp>
      <p:sp>
        <p:nvSpPr>
          <p:cNvPr id="18" name="Действия interval 2"/>
          <p:cNvSpPr/>
          <p:nvPr/>
        </p:nvSpPr>
        <p:spPr>
          <a:xfrm>
            <a:off x="6911035" y="3941064"/>
            <a:ext cx="1850746" cy="0"/>
          </a:xfrm>
          <a:prstGeom prst="line">
            <a:avLst/>
          </a:prstGeom>
          <a:noFill/>
          <a:ln w="101600">
            <a:solidFill>
              <a:srgbClr val="61C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11035" y="3465576"/>
            <a:ext cx="18507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пересчёт</a:t>
            </a:r>
            <a:endParaRPr lang="en-US" sz="2000" dirty="0"/>
          </a:p>
        </p:txBody>
      </p:sp>
      <p:sp>
        <p:nvSpPr>
          <p:cNvPr id="20" name="Действия interval 3"/>
          <p:cNvSpPr/>
          <p:nvPr/>
        </p:nvSpPr>
        <p:spPr>
          <a:xfrm>
            <a:off x="9014155" y="3941064"/>
            <a:ext cx="1093622" cy="0"/>
          </a:xfrm>
          <a:prstGeom prst="line">
            <a:avLst/>
          </a:prstGeom>
          <a:noFill/>
          <a:ln w="101600">
            <a:solidFill>
              <a:srgbClr val="FF6A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14155" y="34655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упаковка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690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Правило</a:t>
            </a:r>
            <a:endParaRPr lang="en-US" sz="2300" dirty="0"/>
          </a:p>
        </p:txBody>
      </p:sp>
      <p:sp>
        <p:nvSpPr>
          <p:cNvPr id="23" name="Правило baseline"/>
          <p:cNvSpPr/>
          <p:nvPr/>
        </p:nvSpPr>
        <p:spPr>
          <a:xfrm>
            <a:off x="2788920" y="4837176"/>
            <a:ext cx="8412480" cy="0"/>
          </a:xfrm>
          <a:prstGeom prst="line">
            <a:avLst/>
          </a:prstGeom>
          <a:noFill/>
          <a:ln w="25400">
            <a:solidFill>
              <a:srgbClr val="6A4758"/>
            </a:solidFill>
            <a:prstDash val="solid"/>
          </a:ln>
        </p:spPr>
      </p:sp>
      <p:sp>
        <p:nvSpPr>
          <p:cNvPr id="24" name="Правило interval 1"/>
          <p:cNvSpPr/>
          <p:nvPr/>
        </p:nvSpPr>
        <p:spPr>
          <a:xfrm>
            <a:off x="4134917" y="4837176"/>
            <a:ext cx="5972861" cy="0"/>
          </a:xfrm>
          <a:prstGeom prst="line">
            <a:avLst/>
          </a:prstGeom>
          <a:noFill/>
          <a:ln w="152400">
            <a:solidFill>
              <a:srgbClr val="A3155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34917" y="4361688"/>
            <a:ext cx="59728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93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роли / порядок / обзор / время</a:t>
            </a:r>
            <a:endParaRPr lang="en-US" sz="2000" dirty="0"/>
          </a:p>
        </p:txBody>
      </p:sp>
      <p:sp>
        <p:nvSpPr>
          <p:cNvPr id="26" name="Time axis"/>
          <p:cNvSpPr/>
          <p:nvPr/>
        </p:nvSpPr>
        <p:spPr>
          <a:xfrm>
            <a:off x="2788920" y="5797296"/>
            <a:ext cx="8412480" cy="0"/>
          </a:xfrm>
          <a:prstGeom prst="line">
            <a:avLst/>
          </a:prstGeom>
          <a:noFill/>
          <a:ln w="19050">
            <a:solidFill>
              <a:srgbClr val="D8C7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7744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время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89204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8056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9516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t2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09828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201400" y="5705856"/>
            <a:ext cx="0" cy="182880"/>
          </a:xfrm>
          <a:prstGeom prst="line">
            <a:avLst/>
          </a:prstGeom>
          <a:noFill/>
          <a:ln w="12700">
            <a:solidFill>
              <a:srgbClr val="D8C7C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789920" y="59984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система видит в кадре</a:t>
            </a:r>
            <a:endParaRPr lang="en-US" sz="4400" dirty="0"/>
          </a:p>
        </p:txBody>
      </p:sp>
      <p:pic>
        <p:nvPicPr>
          <p:cNvPr id="3" name="Cash paper macro CGI" descr="Оригинальная CGI-макросцена чистой бумаги, пустой карточки и края счётчика без банковских данны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53312"/>
            <a:ext cx="6656832" cy="4992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99248" y="144475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Детекторы предметов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7699248" y="211226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Руки, наличные, удостоверения, счётчики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699248" y="312724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Трекинг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7699248" y="3685032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Тот же человек и предмет между кадрами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699248" y="461772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Последовательность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7699248" y="5138928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Qwen3-VL читает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последовательность.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Код сверяет объекты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время.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факта к решению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2801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кадре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069080" y="128016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Проверяет правило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7973568" y="1280160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A315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остаётся человеку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13232" y="1801368"/>
            <a:ext cx="10771632" cy="0"/>
          </a:xfrm>
          <a:prstGeom prst="line">
            <a:avLst/>
          </a:prstGeom>
          <a:noFill/>
          <a:ln w="25400">
            <a:solidFill>
              <a:srgbClr val="2809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2880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Наличные в руках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или на столе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993392"/>
            <a:ext cx="34564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Состояние предмета,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участник и зона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7973568" y="1993392"/>
            <a:ext cx="34930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Сопоставить наблюдение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процедурой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13232" y="3127248"/>
            <a:ext cx="10771632" cy="0"/>
          </a:xfrm>
          <a:prstGeom prst="line">
            <a:avLst/>
          </a:prstGeom>
          <a:noFill/>
          <a:ln w="12700">
            <a:solidFill>
              <a:srgbClr val="D9C8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346704"/>
            <a:ext cx="2880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Передача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или пересчёт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3346704"/>
            <a:ext cx="34564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Роли, порядок действий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полнота обзора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7973568" y="3346704"/>
            <a:ext cx="34930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Подтвердить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либо отклонить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13232" y="4480560"/>
            <a:ext cx="10771632" cy="0"/>
          </a:xfrm>
          <a:prstGeom prst="line">
            <a:avLst/>
          </a:prstGeom>
          <a:noFill/>
          <a:ln w="12700">
            <a:solidFill>
              <a:srgbClr val="D9C8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700016"/>
            <a:ext cx="2880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 же пачка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80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между кадрами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4700016"/>
            <a:ext cx="34564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Общая идентичность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временной интервал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7973568" y="4700016"/>
            <a:ext cx="34930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Отметить «не видно»,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6C5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если связи недостаточно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713232" y="5833872"/>
            <a:ext cx="10771632" cy="0"/>
          </a:xfrm>
          <a:prstGeom prst="line">
            <a:avLst/>
          </a:prstGeom>
          <a:noFill/>
          <a:ln w="12700">
            <a:solidFill>
              <a:srgbClr val="D9C8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607161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7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 и ограничения хранятся вместе с правилом.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0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ent side"/>
          <p:cNvSpPr/>
          <p:nvPr/>
        </p:nvSpPr>
        <p:spPr>
          <a:xfrm>
            <a:off x="0" y="0"/>
            <a:ext cx="6089904" cy="6858000"/>
          </a:xfrm>
          <a:prstGeom prst="rect">
            <a:avLst/>
          </a:prstGeom>
          <a:solidFill>
            <a:srgbClr val="380A20"/>
          </a:solidFill>
          <a:ln w="12700">
            <a:solidFill>
              <a:srgbClr val="380A20">
                <a:alpha val="0"/>
              </a:srgbClr>
            </a:solidFill>
            <a:prstDash val="solid"/>
          </a:ln>
        </p:spPr>
      </p:sp>
      <p:sp>
        <p:nvSpPr>
          <p:cNvPr id="3" name="Slide title"/>
          <p:cNvSpPr txBox="1"/>
          <p:nvPr/>
        </p:nvSpPr>
        <p:spPr>
          <a:xfrm>
            <a:off x="658368" y="43891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Частный контур анализа</a:t>
            </a:r>
            <a:endParaRPr lang="en-US" sz="4600" dirty="0"/>
          </a:p>
        </p:txBody>
      </p:sp>
      <p:sp>
        <p:nvSpPr>
          <p:cNvPr id="4" name="Private boundary"/>
          <p:cNvSpPr/>
          <p:nvPr/>
        </p:nvSpPr>
        <p:spPr>
          <a:xfrm>
            <a:off x="6089904" y="1417320"/>
            <a:ext cx="0" cy="4526280"/>
          </a:xfrm>
          <a:prstGeom prst="line">
            <a:avLst/>
          </a:prstGeom>
          <a:noFill/>
          <a:ln w="25400">
            <a:solidFill>
              <a:srgbClr val="FC93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190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Защищённый API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5915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Запись поступает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 API ключом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968496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 возвращается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проверки и решения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620256" y="17190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Modal L4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42316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Видео, веса моделей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inference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620256" y="3858768"/>
            <a:ext cx="4343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Правила отделены от моделей.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D8C7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 человека — от наблюдений.</a:t>
            </a:r>
            <a:endParaRPr lang="en-US" sz="2200" dirty="0"/>
          </a:p>
        </p:txBody>
      </p:sp>
      <p:sp>
        <p:nvSpPr>
          <p:cNvPr id="11" name="Request line"/>
          <p:cNvSpPr/>
          <p:nvPr/>
        </p:nvSpPr>
        <p:spPr>
          <a:xfrm>
            <a:off x="4041648" y="3127248"/>
            <a:ext cx="4041648" cy="0"/>
          </a:xfrm>
          <a:prstGeom prst="line">
            <a:avLst/>
          </a:prstGeom>
          <a:noFill/>
          <a:ln w="38100">
            <a:solidFill>
              <a:srgbClr val="FF6A3D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572000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C93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запрос</a:t>
            </a:r>
            <a:endParaRPr lang="en-US" sz="1900" dirty="0"/>
          </a:p>
        </p:txBody>
      </p:sp>
      <p:sp>
        <p:nvSpPr>
          <p:cNvPr id="13" name="Result line"/>
          <p:cNvSpPr/>
          <p:nvPr/>
        </p:nvSpPr>
        <p:spPr>
          <a:xfrm>
            <a:off x="4041648" y="5230368"/>
            <a:ext cx="4041648" cy="0"/>
          </a:xfrm>
          <a:prstGeom prst="line">
            <a:avLst/>
          </a:prstGeom>
          <a:noFill/>
          <a:ln w="38100">
            <a:solidFill>
              <a:srgbClr val="61CFFF"/>
            </a:solidFill>
            <a:prstDash val="solid"/>
            <a:head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55664" y="4882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1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6099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Видео не уходит во внешние AI API.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gradient" descr="Оранжево-красно-розовый градиент Lad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losing logo" descr="Lado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" y="493776"/>
            <a:ext cx="1755648" cy="576072"/>
          </a:xfrm>
          <a:prstGeom prst="rect">
            <a:avLst/>
          </a:prstGeom>
        </p:spPr>
      </p:pic>
      <p:pic>
        <p:nvPicPr>
          <p:cNvPr id="4" name="Closing mark" descr="Знак Lado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42448" y="566928"/>
            <a:ext cx="932688" cy="932688"/>
          </a:xfrm>
          <a:prstGeom prst="rect">
            <a:avLst/>
          </a:prstGeom>
        </p:spPr>
      </p:pic>
      <p:sp>
        <p:nvSpPr>
          <p:cNvPr id="5" name="Closing title"/>
          <p:cNvSpPr txBox="1"/>
          <p:nvPr/>
        </p:nvSpPr>
        <p:spPr>
          <a:xfrm>
            <a:off x="658368" y="1481328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Проверим Lado</a:t>
            </a:r>
            <a:endParaRPr lang="en-US" sz="5500" dirty="0"/>
          </a:p>
          <a:p>
            <a:pPr algn="l" indent="0" marL="0">
              <a:buNone/>
            </a:pPr>
            <a:r>
              <a:rPr lang="en-US" sz="5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ваших сценариях</a:t>
            </a:r>
            <a:endParaRPr lang="en-US" sz="5500" dirty="0"/>
          </a:p>
        </p:txBody>
      </p:sp>
      <p:sp>
        <p:nvSpPr>
          <p:cNvPr id="6" name="Closing thesis"/>
          <p:cNvSpPr txBox="1"/>
          <p:nvPr/>
        </p:nvSpPr>
        <p:spPr>
          <a:xfrm>
            <a:off x="694944" y="3364992"/>
            <a:ext cx="6583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Начнём с одного процесса.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Сопоставим эпизоды с решениями специалистов.</a:t>
            </a:r>
            <a:endParaRPr lang="en-US" sz="2600" dirty="0"/>
          </a:p>
        </p:txBody>
      </p:sp>
      <p:sp>
        <p:nvSpPr>
          <p:cNvPr id="7" name="Closing service link">
            <a:hlinkClick r:id="rId7" tooltip=""/>
          </p:cNvPr>
          <p:cNvSpPr txBox="1"/>
          <p:nvPr/>
        </p:nvSpPr>
        <p:spPr>
          <a:xfrm>
            <a:off x="694944" y="517550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Lado ↗</a:t>
            </a:r>
            <a:endParaRPr lang="en-US" sz="2200" dirty="0"/>
          </a:p>
        </p:txBody>
      </p:sp>
      <p:sp>
        <p:nvSpPr>
          <p:cNvPr id="8" name="Closing repository link">
            <a:hlinkClick r:id="rId8" tooltip=""/>
          </p:cNvPr>
          <p:cNvSpPr txBox="1"/>
          <p:nvPr/>
        </p:nvSpPr>
        <p:spPr>
          <a:xfrm>
            <a:off x="3401568" y="51755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Репозиторий ↗</a:t>
            </a:r>
            <a:endParaRPr lang="en-US" sz="2200" dirty="0"/>
          </a:p>
        </p:txBody>
      </p:sp>
      <p:sp>
        <p:nvSpPr>
          <p:cNvPr id="9" name="Repository access"/>
          <p:cNvSpPr txBox="1"/>
          <p:nvPr/>
        </p:nvSpPr>
        <p:spPr>
          <a:xfrm>
            <a:off x="694944" y="5833872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 к репозиторию — по приглашению.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Lado: Всё важное на виду</dc:title>
  <dc:subject>Проверка кассовых операций по видеозаписи</dc:subject>
  <dc:creator>Lado</dc:creator>
  <cp:lastModifiedBy>Lado</cp:lastModifiedBy>
  <cp:revision>1</cp:revision>
  <dcterms:created xsi:type="dcterms:W3CDTF">2026-10-18T06:04:49Z</dcterms:created>
  <dcterms:modified xsi:type="dcterms:W3CDTF">2026-10-18T06:04:49Z</dcterms:modified>
</cp:coreProperties>
</file>