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Камера уже видит кассовую операцию. Но видеозапись сама по себе не отвечает на главный вопрос внутреннего контроля: какой именно момент нужно проверить и на каком основании. Lado превращает запись в проверяемый эпизод — с таймкодом, наблюдаемыми действиями, условиями правила и решением человека.
Источники слайда: contracts/product.json; README.md; identity/logo/lado-logo.svg. Hero art: assets/imagegen/hero-film-lens.png, synthetic concept illustration.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важна граница вывода. Деньги в кадре — это наблюдаемый предмет. Передача или пересчёт — действие, которое нужно подтвердить во времени. И даже подтверждённое действие ещё не является нарушением. Для вывода нужны участники, порядок событий, видимость сцены и условие конкретного правила. Lado сохраняет эту цепочку, чтобы проверяющий видел, из чего сделан вывод.
Источники слайда: README.md, sections “Возможности” and “Как устроен анализ”.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Поэтому продукт построен как одна доказательная цепочка. Сначала сохраняются исходные таймкоды и наблюдаемые события. Затем движок правил проверяет роли, объекты, последовательность и достаточность обзора. Если условие выполнено, Lado формирует эпизод с моментом начала и кадрами-доказательствами. После этого человек подтверждает находку, отклоняет её или отмечает, что событие неразличимо.
Источники слайда: README.md pipeline description; backend/navidu/pipeline/run.py; backend/navidu/contracts/.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Проверяющий работает не с бесконечным видеопотоком, а с конкретным эпизодом. Он видит момент начала эпизода, описание того, что наблюдалось, объяснение, почему может применяться правило, и до трёх кадров-доказательств. Рядом остаются источник правила и ограничения вывода. Решение и заметка сохраняются отдельно от автоматических наблюдений. Результат можно открыть в интерфейсе, получить через HTTP API или вывести в лист проверки.
Источники слайда: README.md; contracts/openapi.json, Finding, EvidenceFrame and Decision schemas. The timeline is an editable schematic, not a UI screenshot.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получить такое объяснение, система смотрит на запись в нескольких масштабах. Специализированные детекторы находят руки, банкноты, удостоверения и счётчики; отдельный слой ведёт людей и предметы во времени. Qwen3-VL-8B анализирует последовательность кадров и отношения между действиями. Затем программная проверка сверяет интервалы, идентификаторы объектов и временные связи. Все модели работают в частном GPU-контуре проекта в Modal, без отправки видео во внешние AI API.
Источники слайда: README.md model and privacy sections; backend/navidu/perception/object_detector.py; backend/navidu/perception/qwen.py; eval/reports/modal-question-verification.json.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конкретный пример работы всего контура. В записи длительностью около двадцати одной секунды сервис определил начало эпизода на шестнадцатой секунде: сотрудник дошёл до выхода, та же инкассаторская сумка осталась на столе, а рядом не было видимого сотрудника. Сервис вернул один эпизод и кадр-доказательство. Проверяющий получает именно момент совпадения условий сценария, а не весь длинный интервал доказательств.
Источники слайда: eval/reports/modal-question-verification.json, targeted_pipeline_check and deployment.bag_positive; rules/catalog/V-BAG-UNATTENDED.yaml.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Для внедрения важны две независимые границы контроля. Первая — данные и модели: запись, веса и результаты остаются в частном контуре, а внешний API защищён ключом. Вторая — правила: они хранятся отдельно от модели, содержат источники и ограничения применимости. Автоматические наблюдения и решение проверяющего сохраняются как разные слои, поэтому результат можно пересмотреть и объяснить.
Источники слайда: README.md privacy, rules and architecture sections; contracts/openapi.json security and Decision schemas; eval/reports/modal-question-verification.json deployment.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Lado уже доступен как работающий веб-сервис и HTTP API. Пилот можно начать с ограниченного потока записей и конкретных критериев внутреннего контроля: подключить загрузку, согласовать правила, проверить эпизоды и сохранить решения. Так путь от видеозаписи до проверяемого решения становится короче, а ответственность остаётся у специалиста.
Источники слайда: README.md live app and API sections; eval/reports/modal-question-verification.json deployment; requested repository URL.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DO_BLANK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hyperlink" Target="https://darinax2005x--lado-ladoservice-web.us-east.modal.run/app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sv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6" Type="http://schemas.openxmlformats.org/officeDocument/2006/relationships/hyperlink" Target="https://darinax2005x--lado-ladoservice-web.us-east.modal.run/app" TargetMode="External"/><Relationship Id="rId7" Type="http://schemas.openxmlformats.org/officeDocument/2006/relationships/hyperlink" Target="https://github.com/DarinaX2005X/dreamteam-datathon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svg"/><Relationship Id="rId4" Type="http://schemas.openxmlformats.org/officeDocument/2006/relationships/image" Target="../media/image-8-4.png"/><Relationship Id="rId5" Type="http://schemas.openxmlformats.org/officeDocument/2006/relationships/image" Target="../media/image-8-5.sv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ero concept art" descr="Синтетическая концептуальная иллюстрация: киноплёнка и оптическое кольцо в тёплой палитр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ado logo" descr="Lado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58368" y="530352"/>
            <a:ext cx="1700784" cy="553212"/>
          </a:xfrm>
          <a:prstGeom prst="rect">
            <a:avLst/>
          </a:prstGeom>
        </p:spPr>
      </p:pic>
      <p:sp>
        <p:nvSpPr>
          <p:cNvPr id="4" name="Hero title"/>
          <p:cNvSpPr txBox="1"/>
          <p:nvPr/>
        </p:nvSpPr>
        <p:spPr>
          <a:xfrm>
            <a:off x="658368" y="1591056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Всё важное —</a:t>
            </a:r>
            <a:endParaRPr lang="en-US" sz="4800" dirty="0"/>
          </a:p>
          <a:p>
            <a:pPr algn="l" indent="0" marL="0">
              <a:buNone/>
            </a:pPr>
            <a:r>
              <a:rPr lang="en-US" sz="48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виду.</a:t>
            </a:r>
            <a:endParaRPr lang="en-US" sz="4800" dirty="0"/>
          </a:p>
        </p:txBody>
      </p:sp>
      <p:sp>
        <p:nvSpPr>
          <p:cNvPr id="5" name="Product description"/>
          <p:cNvSpPr txBox="1"/>
          <p:nvPr/>
        </p:nvSpPr>
        <p:spPr>
          <a:xfrm>
            <a:off x="694944" y="3328416"/>
            <a:ext cx="4800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Проверка кассовых операций по видеозаписи</a:t>
            </a:r>
            <a:endParaRPr lang="en-US" sz="2000" dirty="0"/>
          </a:p>
        </p:txBody>
      </p:sp>
      <p:sp>
        <p:nvSpPr>
          <p:cNvPr id="6" name="Hero explanation"/>
          <p:cNvSpPr txBox="1"/>
          <p:nvPr/>
        </p:nvSpPr>
        <p:spPr>
          <a:xfrm>
            <a:off x="694944" y="3877056"/>
            <a:ext cx="48006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Lado превращает запись в проверяемый эпизод: таймкод, наблюдения, основание и решение человека.</a:t>
            </a:r>
            <a:endParaRPr lang="en-US" sz="2100" dirty="0"/>
          </a:p>
        </p:txBody>
      </p:sp>
      <p:sp>
        <p:nvSpPr>
          <p:cNvPr id="7" name="Hero link underline"/>
          <p:cNvSpPr/>
          <p:nvPr/>
        </p:nvSpPr>
        <p:spPr>
          <a:xfrm>
            <a:off x="694944" y="5330952"/>
            <a:ext cx="969264" cy="0"/>
          </a:xfrm>
          <a:prstGeom prst="line">
            <a:avLst/>
          </a:prstGeom>
          <a:noFill/>
          <a:ln w="38100">
            <a:solidFill>
              <a:srgbClr val="A31551"/>
            </a:solidFill>
            <a:prstDash val="solid"/>
          </a:ln>
        </p:spPr>
      </p:sp>
      <p:sp>
        <p:nvSpPr>
          <p:cNvPr id="8" name="Service hyperlink">
            <a:hlinkClick r:id="rId4" tooltip=""/>
          </p:cNvPr>
          <p:cNvSpPr txBox="1"/>
          <p:nvPr/>
        </p:nvSpPr>
        <p:spPr>
          <a:xfrm>
            <a:off x="694944" y="5102352"/>
            <a:ext cx="2148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u="sng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Работающий сервис ↗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658368" y="438912"/>
            <a:ext cx="48920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Видео фиксирует событие.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Решение требует контекста.</a:t>
            </a:r>
            <a:endParaRPr lang="en-US" sz="3600" dirty="0"/>
          </a:p>
        </p:txBody>
      </p:sp>
      <p:sp>
        <p:nvSpPr>
          <p:cNvPr id="3" name="Context explanation"/>
          <p:cNvSpPr txBox="1"/>
          <p:nvPr/>
        </p:nvSpPr>
        <p:spPr>
          <a:xfrm>
            <a:off x="685800" y="2011680"/>
            <a:ext cx="4526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Lado разделяет три уровня вывода, чтобы автоматическая находка оставалась проверяемой.</a:t>
            </a:r>
            <a:endParaRPr lang="en-US" sz="2100" dirty="0"/>
          </a:p>
        </p:txBody>
      </p:sp>
      <p:sp>
        <p:nvSpPr>
          <p:cNvPr id="4" name="Предмет marker"/>
          <p:cNvSpPr/>
          <p:nvPr/>
        </p:nvSpPr>
        <p:spPr>
          <a:xfrm>
            <a:off x="694944" y="3159252"/>
            <a:ext cx="100584" cy="100584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5" name="Предмет text"/>
          <p:cNvSpPr txBox="1"/>
          <p:nvPr/>
        </p:nvSpPr>
        <p:spPr>
          <a:xfrm>
            <a:off x="914400" y="3063240"/>
            <a:ext cx="421538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Предмет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Банкнота, рука, удостоверение или счётчик видны в кадре.</a:t>
            </a:r>
            <a:endParaRPr lang="en-US" sz="1900" dirty="0"/>
          </a:p>
        </p:txBody>
      </p:sp>
      <p:sp>
        <p:nvSpPr>
          <p:cNvPr id="6" name="Действие marker"/>
          <p:cNvSpPr/>
          <p:nvPr/>
        </p:nvSpPr>
        <p:spPr>
          <a:xfrm>
            <a:off x="694944" y="4101084"/>
            <a:ext cx="100584" cy="100584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7" name="Действие text"/>
          <p:cNvSpPr txBox="1"/>
          <p:nvPr/>
        </p:nvSpPr>
        <p:spPr>
          <a:xfrm>
            <a:off x="914400" y="4005072"/>
            <a:ext cx="4215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Действие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Передача, пересчёт или оставленный предмет подтверждаются во времени.</a:t>
            </a:r>
            <a:endParaRPr lang="en-US" sz="1900" dirty="0"/>
          </a:p>
        </p:txBody>
      </p:sp>
      <p:sp>
        <p:nvSpPr>
          <p:cNvPr id="8" name="Основание marker"/>
          <p:cNvSpPr/>
          <p:nvPr/>
        </p:nvSpPr>
        <p:spPr>
          <a:xfrm>
            <a:off x="694944" y="5143500"/>
            <a:ext cx="100584" cy="100584"/>
          </a:xfrm>
          <a:prstGeom prst="ellipse">
            <a:avLst/>
          </a:prstGeom>
          <a:solidFill>
            <a:srgbClr val="0B6F99"/>
          </a:solidFill>
          <a:ln w="12700">
            <a:solidFill>
              <a:srgbClr val="0B6F99"/>
            </a:solidFill>
            <a:prstDash val="solid"/>
          </a:ln>
        </p:spPr>
      </p:sp>
      <p:sp>
        <p:nvSpPr>
          <p:cNvPr id="9" name="Основание text"/>
          <p:cNvSpPr txBox="1"/>
          <p:nvPr/>
        </p:nvSpPr>
        <p:spPr>
          <a:xfrm>
            <a:off x="914400" y="5047488"/>
            <a:ext cx="42153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Основание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Условие правила проверяет роли, порядок событий и достаточность обзора.</a:t>
            </a:r>
            <a:endParaRPr lang="en-US" sz="1900" dirty="0"/>
          </a:p>
        </p:txBody>
      </p:sp>
      <p:sp>
        <p:nvSpPr>
          <p:cNvPr id="10" name="Context stage"/>
          <p:cNvSpPr/>
          <p:nvPr/>
        </p:nvSpPr>
        <p:spPr>
          <a:xfrm>
            <a:off x="5806440" y="0"/>
            <a:ext cx="6382512" cy="6858000"/>
          </a:xfrm>
          <a:prstGeom prst="rect">
            <a:avLst/>
          </a:prstGeom>
          <a:solidFill>
            <a:srgbClr val="2A0B19"/>
          </a:solidFill>
          <a:ln w="12700">
            <a:solidFill>
              <a:srgbClr val="2A0B19">
                <a:alpha val="0"/>
              </a:srgbClr>
            </a:solidFill>
            <a:prstDash val="solid"/>
          </a:ln>
        </p:spPr>
      </p:sp>
      <p:sp>
        <p:nvSpPr>
          <p:cNvPr id="11" name="Observation 1"/>
          <p:cNvSpPr/>
          <p:nvPr/>
        </p:nvSpPr>
        <p:spPr>
          <a:xfrm>
            <a:off x="6272784" y="1143000"/>
            <a:ext cx="155448" cy="155448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12" name="Observation 2"/>
          <p:cNvSpPr/>
          <p:nvPr/>
        </p:nvSpPr>
        <p:spPr>
          <a:xfrm>
            <a:off x="6995160" y="1664208"/>
            <a:ext cx="100584" cy="100584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13" name="Observation 3"/>
          <p:cNvSpPr/>
          <p:nvPr/>
        </p:nvSpPr>
        <p:spPr>
          <a:xfrm>
            <a:off x="7662672" y="1042416"/>
            <a:ext cx="128016" cy="128016"/>
          </a:xfrm>
          <a:prstGeom prst="ellipse">
            <a:avLst/>
          </a:prstGeom>
          <a:solidFill>
            <a:srgbClr val="61CFFF"/>
          </a:solidFill>
          <a:ln w="12700">
            <a:solidFill>
              <a:srgbClr val="61CFFF"/>
            </a:solidFill>
            <a:prstDash val="solid"/>
          </a:ln>
        </p:spPr>
      </p:sp>
      <p:sp>
        <p:nvSpPr>
          <p:cNvPr id="14" name="Observation 4"/>
          <p:cNvSpPr/>
          <p:nvPr/>
        </p:nvSpPr>
        <p:spPr>
          <a:xfrm>
            <a:off x="6620256" y="2779776"/>
            <a:ext cx="109728" cy="109728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15" name="Observation 5"/>
          <p:cNvSpPr/>
          <p:nvPr/>
        </p:nvSpPr>
        <p:spPr>
          <a:xfrm>
            <a:off x="7818120" y="2542032"/>
            <a:ext cx="155448" cy="155448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16" name="Observation 6"/>
          <p:cNvSpPr/>
          <p:nvPr/>
        </p:nvSpPr>
        <p:spPr>
          <a:xfrm>
            <a:off x="8302752" y="1810512"/>
            <a:ext cx="91440" cy="91440"/>
          </a:xfrm>
          <a:prstGeom prst="ellipse">
            <a:avLst/>
          </a:prstGeom>
          <a:solidFill>
            <a:srgbClr val="61CFFF"/>
          </a:solidFill>
          <a:ln w="12700">
            <a:solidFill>
              <a:srgbClr val="61CFFF"/>
            </a:solidFill>
            <a:prstDash val="solid"/>
          </a:ln>
        </p:spPr>
      </p:sp>
      <p:sp>
        <p:nvSpPr>
          <p:cNvPr id="17" name="Observation 7"/>
          <p:cNvSpPr/>
          <p:nvPr/>
        </p:nvSpPr>
        <p:spPr>
          <a:xfrm>
            <a:off x="7059168" y="3840480"/>
            <a:ext cx="128016" cy="128016"/>
          </a:xfrm>
          <a:prstGeom prst="ellipse">
            <a:avLst/>
          </a:prstGeom>
          <a:solidFill>
            <a:srgbClr val="61CFFF"/>
          </a:solidFill>
          <a:ln w="12700">
            <a:solidFill>
              <a:srgbClr val="61CFFF"/>
            </a:solidFill>
            <a:prstDash val="solid"/>
          </a:ln>
        </p:spPr>
      </p:sp>
      <p:sp>
        <p:nvSpPr>
          <p:cNvPr id="18" name="Observation 8"/>
          <p:cNvSpPr/>
          <p:nvPr/>
        </p:nvSpPr>
        <p:spPr>
          <a:xfrm>
            <a:off x="8028432" y="4224528"/>
            <a:ext cx="109728" cy="109728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19" name="Observation 9"/>
          <p:cNvSpPr/>
          <p:nvPr/>
        </p:nvSpPr>
        <p:spPr>
          <a:xfrm>
            <a:off x="8531352" y="3456432"/>
            <a:ext cx="146304" cy="146304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20" name="Observation path 1"/>
          <p:cNvSpPr/>
          <p:nvPr/>
        </p:nvSpPr>
        <p:spPr>
          <a:xfrm>
            <a:off x="6428232" y="1298448"/>
            <a:ext cx="3328416" cy="1965960"/>
          </a:xfrm>
          <a:prstGeom prst="line">
            <a:avLst/>
          </a:prstGeom>
          <a:noFill/>
          <a:ln w="25400">
            <a:solidFill>
              <a:srgbClr val="FC9385">
                <a:alpha val="65000"/>
              </a:srgbClr>
            </a:solidFill>
            <a:prstDash val="solid"/>
          </a:ln>
        </p:spPr>
      </p:sp>
      <p:sp>
        <p:nvSpPr>
          <p:cNvPr id="21" name="Observation path 2"/>
          <p:cNvSpPr/>
          <p:nvPr/>
        </p:nvSpPr>
        <p:spPr>
          <a:xfrm>
            <a:off x="6748272" y="2907792"/>
            <a:ext cx="3008376" cy="356616"/>
          </a:xfrm>
          <a:prstGeom prst="line">
            <a:avLst/>
          </a:prstGeom>
          <a:noFill/>
          <a:ln w="25400">
            <a:solidFill>
              <a:srgbClr val="FC9385">
                <a:alpha val="65000"/>
              </a:srgbClr>
            </a:solidFill>
            <a:prstDash val="solid"/>
          </a:ln>
        </p:spPr>
      </p:sp>
      <p:sp>
        <p:nvSpPr>
          <p:cNvPr id="22" name="Observation path 3"/>
          <p:cNvSpPr/>
          <p:nvPr/>
        </p:nvSpPr>
        <p:spPr>
          <a:xfrm>
            <a:off x="7168896" y="3968496"/>
            <a:ext cx="2587752" cy="-704088"/>
          </a:xfrm>
          <a:prstGeom prst="line">
            <a:avLst/>
          </a:prstGeom>
          <a:noFill/>
          <a:ln w="25400">
            <a:solidFill>
              <a:srgbClr val="61CFFF">
                <a:alpha val="65000"/>
              </a:srgbClr>
            </a:solidFill>
            <a:prstDash val="solid"/>
          </a:ln>
        </p:spPr>
      </p:sp>
      <p:sp>
        <p:nvSpPr>
          <p:cNvPr id="23" name="Decision frame"/>
          <p:cNvSpPr/>
          <p:nvPr/>
        </p:nvSpPr>
        <p:spPr>
          <a:xfrm>
            <a:off x="9253728" y="2286000"/>
            <a:ext cx="2240280" cy="2240280"/>
          </a:xfrm>
          <a:prstGeom prst="roundRect">
            <a:avLst/>
          </a:prstGeom>
          <a:solidFill>
            <a:srgbClr val="3A1225"/>
          </a:solidFill>
          <a:ln w="38100">
            <a:solidFill>
              <a:srgbClr val="FC9385"/>
            </a:solidFill>
            <a:prstDash val="solid"/>
          </a:ln>
        </p:spPr>
      </p:sp>
      <p:sp>
        <p:nvSpPr>
          <p:cNvPr id="24" name="Decision lens"/>
          <p:cNvSpPr/>
          <p:nvPr/>
        </p:nvSpPr>
        <p:spPr>
          <a:xfrm>
            <a:off x="9802368" y="2779776"/>
            <a:ext cx="1143000" cy="1143000"/>
          </a:xfrm>
          <a:prstGeom prst="ellipse">
            <a:avLst/>
          </a:prstGeom>
          <a:solidFill>
            <a:srgbClr val="4A0221"/>
          </a:solidFill>
          <a:ln w="38100">
            <a:solidFill>
              <a:srgbClr val="FC9385"/>
            </a:solidFill>
            <a:prstDash val="solid"/>
          </a:ln>
        </p:spPr>
      </p:sp>
      <p:sp>
        <p:nvSpPr>
          <p:cNvPr id="25" name="Lens handle"/>
          <p:cNvSpPr/>
          <p:nvPr/>
        </p:nvSpPr>
        <p:spPr>
          <a:xfrm>
            <a:off x="10588752" y="3822192"/>
            <a:ext cx="384048" cy="384048"/>
          </a:xfrm>
          <a:prstGeom prst="line">
            <a:avLst/>
          </a:prstGeom>
          <a:noFill/>
          <a:ln w="88900">
            <a:solidFill>
              <a:srgbClr val="FC9385"/>
            </a:solidFill>
            <a:prstDash val="solid"/>
          </a:ln>
        </p:spPr>
      </p:sp>
      <p:sp>
        <p:nvSpPr>
          <p:cNvPr id="26" name="Key distinction"/>
          <p:cNvSpPr txBox="1"/>
          <p:nvPr/>
        </p:nvSpPr>
        <p:spPr>
          <a:xfrm>
            <a:off x="9372600" y="4873752"/>
            <a:ext cx="2011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наблюдение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≠</a:t>
            </a:r>
            <a:endParaRPr lang="en-US" sz="2200" dirty="0"/>
          </a:p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нарушение</a:t>
            </a:r>
            <a:endParaRPr lang="en-US" sz="2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07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658368" y="438912"/>
            <a:ext cx="6858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 записи до решения —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одна доказательная цепочка</a:t>
            </a:r>
            <a:endParaRPr lang="en-US" sz="3400" dirty="0"/>
          </a:p>
        </p:txBody>
      </p:sp>
      <p:sp>
        <p:nvSpPr>
          <p:cNvPr id="3" name="Mechanism support"/>
          <p:cNvSpPr txBox="1"/>
          <p:nvPr/>
        </p:nvSpPr>
        <p:spPr>
          <a:xfrm>
            <a:off x="7479792" y="576072"/>
            <a:ext cx="40416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8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Каждый этап сохраняет связь с исходным временем и наблюдаемыми фактами.</a:t>
            </a:r>
            <a:endParaRPr lang="en-US" sz="1800" dirty="0"/>
          </a:p>
        </p:txBody>
      </p:sp>
      <p:pic>
        <p:nvPicPr>
          <p:cNvPr id="4" name="Mechanism ribbon" descr="Пять связанных этапов доказательной цепочки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1344168"/>
            <a:ext cx="11109960" cy="2624328"/>
          </a:xfrm>
          <a:prstGeom prst="rect">
            <a:avLst/>
          </a:prstGeom>
        </p:spPr>
      </p:pic>
      <p:sp>
        <p:nvSpPr>
          <p:cNvPr id="5" name="Stage 1 title"/>
          <p:cNvSpPr txBox="1"/>
          <p:nvPr/>
        </p:nvSpPr>
        <p:spPr>
          <a:xfrm>
            <a:off x="411480" y="4041648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Видеозапись</a:t>
            </a:r>
            <a:endParaRPr lang="en-US" sz="2200" dirty="0"/>
          </a:p>
        </p:txBody>
      </p:sp>
      <p:sp>
        <p:nvSpPr>
          <p:cNvPr id="6" name="Stage 1 detail"/>
          <p:cNvSpPr txBox="1"/>
          <p:nvPr/>
        </p:nvSpPr>
        <p:spPr>
          <a:xfrm>
            <a:off x="411480" y="4517136"/>
            <a:ext cx="1874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исходные таймкоды</a:t>
            </a:r>
            <a:endParaRPr lang="en-US" sz="1500" dirty="0"/>
          </a:p>
        </p:txBody>
      </p:sp>
      <p:sp>
        <p:nvSpPr>
          <p:cNvPr id="7" name="Stage 2 title"/>
          <p:cNvSpPr txBox="1"/>
          <p:nvPr/>
        </p:nvSpPr>
        <p:spPr>
          <a:xfrm>
            <a:off x="2560320" y="4041648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Наблюдения</a:t>
            </a:r>
            <a:endParaRPr lang="en-US" sz="2200" dirty="0"/>
          </a:p>
        </p:txBody>
      </p:sp>
      <p:sp>
        <p:nvSpPr>
          <p:cNvPr id="8" name="Stage 2 detail"/>
          <p:cNvSpPr txBox="1"/>
          <p:nvPr/>
        </p:nvSpPr>
        <p:spPr>
          <a:xfrm>
            <a:off x="2560320" y="4517136"/>
            <a:ext cx="2148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участники · предметы · действия</a:t>
            </a:r>
            <a:endParaRPr lang="en-US" sz="1500" dirty="0"/>
          </a:p>
        </p:txBody>
      </p:sp>
      <p:sp>
        <p:nvSpPr>
          <p:cNvPr id="9" name="Stage 3 title"/>
          <p:cNvSpPr txBox="1"/>
          <p:nvPr/>
        </p:nvSpPr>
        <p:spPr>
          <a:xfrm>
            <a:off x="4910328" y="4041648"/>
            <a:ext cx="20299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Правила</a:t>
            </a:r>
            <a:endParaRPr lang="en-US" sz="2200" dirty="0"/>
          </a:p>
        </p:txBody>
      </p:sp>
      <p:sp>
        <p:nvSpPr>
          <p:cNvPr id="10" name="Stage 3 detail"/>
          <p:cNvSpPr txBox="1"/>
          <p:nvPr/>
        </p:nvSpPr>
        <p:spPr>
          <a:xfrm>
            <a:off x="4910328" y="4517136"/>
            <a:ext cx="20299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условия · порядок · видимость</a:t>
            </a:r>
            <a:endParaRPr lang="en-US" sz="1500" dirty="0"/>
          </a:p>
        </p:txBody>
      </p:sp>
      <p:sp>
        <p:nvSpPr>
          <p:cNvPr id="11" name="Stage 4 title"/>
          <p:cNvSpPr txBox="1"/>
          <p:nvPr/>
        </p:nvSpPr>
        <p:spPr>
          <a:xfrm>
            <a:off x="7296912" y="4041648"/>
            <a:ext cx="21945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Эпизод</a:t>
            </a:r>
            <a:endParaRPr lang="en-US" sz="2200" dirty="0"/>
          </a:p>
        </p:txBody>
      </p:sp>
      <p:sp>
        <p:nvSpPr>
          <p:cNvPr id="12" name="Stage 4 detail"/>
          <p:cNvSpPr txBox="1"/>
          <p:nvPr/>
        </p:nvSpPr>
        <p:spPr>
          <a:xfrm>
            <a:off x="7296912" y="4517136"/>
            <a:ext cx="21945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момент начала · доказательства</a:t>
            </a:r>
            <a:endParaRPr lang="en-US" sz="1500" dirty="0"/>
          </a:p>
        </p:txBody>
      </p:sp>
      <p:sp>
        <p:nvSpPr>
          <p:cNvPr id="13" name="Stage 5 title"/>
          <p:cNvSpPr txBox="1"/>
          <p:nvPr/>
        </p:nvSpPr>
        <p:spPr>
          <a:xfrm>
            <a:off x="9784080" y="4041648"/>
            <a:ext cx="1993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1C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Решение</a:t>
            </a:r>
            <a:endParaRPr lang="en-US" sz="2200" dirty="0"/>
          </a:p>
        </p:txBody>
      </p:sp>
      <p:sp>
        <p:nvSpPr>
          <p:cNvPr id="14" name="Stage 5 detail"/>
          <p:cNvSpPr txBox="1"/>
          <p:nvPr/>
        </p:nvSpPr>
        <p:spPr>
          <a:xfrm>
            <a:off x="9784080" y="4517136"/>
            <a:ext cx="199339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подтвердить · отклонить · не видно</a:t>
            </a:r>
            <a:endParaRPr lang="en-US" sz="1500" dirty="0"/>
          </a:p>
        </p:txBody>
      </p:sp>
      <p:sp>
        <p:nvSpPr>
          <p:cNvPr id="15" name="Mechanism closing rule"/>
          <p:cNvSpPr/>
          <p:nvPr/>
        </p:nvSpPr>
        <p:spPr>
          <a:xfrm>
            <a:off x="694944" y="5742432"/>
            <a:ext cx="10844784" cy="0"/>
          </a:xfrm>
          <a:prstGeom prst="line">
            <a:avLst/>
          </a:prstGeom>
          <a:noFill/>
          <a:ln w="25400">
            <a:solidFill>
              <a:srgbClr val="3A1225"/>
            </a:solidFill>
            <a:prstDash val="solid"/>
          </a:ln>
        </p:spPr>
      </p:sp>
      <p:sp>
        <p:nvSpPr>
          <p:cNvPr id="16" name="Human decision statement"/>
          <p:cNvSpPr txBox="1"/>
          <p:nvPr/>
        </p:nvSpPr>
        <p:spPr>
          <a:xfrm>
            <a:off x="1298448" y="5925312"/>
            <a:ext cx="96012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C93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Автоматическая находка указывает, что проверить. Финальное решение остаётся за человеком.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658368" y="438912"/>
            <a:ext cx="6537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Проверяющий видит не поток,</a:t>
            </a:r>
            <a:endParaRPr lang="en-US" sz="3500" dirty="0"/>
          </a:p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 конкретный эпизод</a:t>
            </a:r>
            <a:endParaRPr lang="en-US" sz="3500" dirty="0"/>
          </a:p>
        </p:txBody>
      </p:sp>
      <p:sp>
        <p:nvSpPr>
          <p:cNvPr id="3" name="Illustrative timecode"/>
          <p:cNvSpPr txBox="1"/>
          <p:nvPr/>
        </p:nvSpPr>
        <p:spPr>
          <a:xfrm>
            <a:off x="658368" y="1627632"/>
            <a:ext cx="3063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00:16</a:t>
            </a:r>
            <a:endParaRPr lang="en-US" sz="6600" dirty="0"/>
          </a:p>
        </p:txBody>
      </p:sp>
      <p:sp>
        <p:nvSpPr>
          <p:cNvPr id="4" name="Timecode label"/>
          <p:cNvSpPr txBox="1"/>
          <p:nvPr/>
        </p:nvSpPr>
        <p:spPr>
          <a:xfrm>
            <a:off x="749808" y="2651760"/>
            <a:ext cx="2788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момент начала события</a:t>
            </a:r>
            <a:endParaRPr lang="en-US" sz="1800" dirty="0"/>
          </a:p>
        </p:txBody>
      </p:sp>
      <p:sp>
        <p:nvSpPr>
          <p:cNvPr id="5" name="Episode aperture outer"/>
          <p:cNvSpPr/>
          <p:nvPr/>
        </p:nvSpPr>
        <p:spPr>
          <a:xfrm>
            <a:off x="1033272" y="3319272"/>
            <a:ext cx="2103120" cy="2103120"/>
          </a:xfrm>
          <a:prstGeom prst="ellipse">
            <a:avLst/>
          </a:prstGeom>
          <a:solidFill>
            <a:srgbClr val="FCFAFB"/>
          </a:solidFill>
          <a:ln w="50800">
            <a:solidFill>
              <a:srgbClr val="FC9385"/>
            </a:solidFill>
            <a:prstDash val="solid"/>
          </a:ln>
        </p:spPr>
      </p:sp>
      <p:sp>
        <p:nvSpPr>
          <p:cNvPr id="6" name="Episode aperture middle"/>
          <p:cNvSpPr/>
          <p:nvPr/>
        </p:nvSpPr>
        <p:spPr>
          <a:xfrm>
            <a:off x="1344168" y="3630168"/>
            <a:ext cx="1481328" cy="1481328"/>
          </a:xfrm>
          <a:prstGeom prst="ellipse">
            <a:avLst/>
          </a:prstGeom>
          <a:solidFill>
            <a:srgbClr val="FCFAFB"/>
          </a:solidFill>
          <a:ln w="50800">
            <a:solidFill>
              <a:srgbClr val="A31551"/>
            </a:solidFill>
            <a:prstDash val="solid"/>
          </a:ln>
        </p:spPr>
      </p:sp>
      <p:sp>
        <p:nvSpPr>
          <p:cNvPr id="7" name="Episode aperture core"/>
          <p:cNvSpPr/>
          <p:nvPr/>
        </p:nvSpPr>
        <p:spPr>
          <a:xfrm>
            <a:off x="1746504" y="4032504"/>
            <a:ext cx="676656" cy="676656"/>
          </a:xfrm>
          <a:prstGeom prst="ellipse">
            <a:avLst/>
          </a:prstGeom>
          <a:solidFill>
            <a:srgbClr val="4A0221"/>
          </a:solidFill>
          <a:ln w="12700">
            <a:solidFill>
              <a:srgbClr val="4A0221"/>
            </a:solidFill>
            <a:prstDash val="solid"/>
          </a:ln>
        </p:spPr>
      </p:sp>
      <p:sp>
        <p:nvSpPr>
          <p:cNvPr id="8" name="Episode timeline"/>
          <p:cNvSpPr/>
          <p:nvPr/>
        </p:nvSpPr>
        <p:spPr>
          <a:xfrm>
            <a:off x="2084832" y="4370832"/>
            <a:ext cx="2944368" cy="0"/>
          </a:xfrm>
          <a:prstGeom prst="line">
            <a:avLst/>
          </a:prstGeom>
          <a:noFill/>
          <a:ln w="38100">
            <a:solidFill>
              <a:srgbClr val="A31551"/>
            </a:solidFill>
            <a:prstDash val="solid"/>
          </a:ln>
        </p:spPr>
      </p:sp>
      <p:sp>
        <p:nvSpPr>
          <p:cNvPr id="9" name="Episode onset marker"/>
          <p:cNvSpPr/>
          <p:nvPr/>
        </p:nvSpPr>
        <p:spPr>
          <a:xfrm>
            <a:off x="3154680" y="3959352"/>
            <a:ext cx="0" cy="822960"/>
          </a:xfrm>
          <a:prstGeom prst="line">
            <a:avLst/>
          </a:prstGeom>
          <a:noFill/>
          <a:ln w="63500">
            <a:solidFill>
              <a:srgbClr val="FC9385"/>
            </a:solidFill>
            <a:prstDash val="solid"/>
          </a:ln>
        </p:spPr>
      </p:sp>
      <p:sp>
        <p:nvSpPr>
          <p:cNvPr id="10" name="Episode onset dot"/>
          <p:cNvSpPr/>
          <p:nvPr/>
        </p:nvSpPr>
        <p:spPr>
          <a:xfrm>
            <a:off x="3035808" y="4242816"/>
            <a:ext cx="237744" cy="237744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11" name="Episode onset label"/>
          <p:cNvSpPr txBox="1"/>
          <p:nvPr/>
        </p:nvSpPr>
        <p:spPr>
          <a:xfrm>
            <a:off x="2816352" y="4882896"/>
            <a:ext cx="786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начало</a:t>
            </a:r>
            <a:endParaRPr lang="en-US" sz="1500" dirty="0"/>
          </a:p>
        </p:txBody>
      </p:sp>
      <p:sp>
        <p:nvSpPr>
          <p:cNvPr id="12" name="Episode window label"/>
          <p:cNvSpPr txBox="1"/>
          <p:nvPr/>
        </p:nvSpPr>
        <p:spPr>
          <a:xfrm>
            <a:off x="3840480" y="3858768"/>
            <a:ext cx="13258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окно события</a:t>
            </a:r>
            <a:endParaRPr lang="en-US" sz="1500" dirty="0"/>
          </a:p>
        </p:txBody>
      </p:sp>
      <p:sp>
        <p:nvSpPr>
          <p:cNvPr id="13" name="Episode divider"/>
          <p:cNvSpPr/>
          <p:nvPr/>
        </p:nvSpPr>
        <p:spPr>
          <a:xfrm>
            <a:off x="5687568" y="1444752"/>
            <a:ext cx="0" cy="4498848"/>
          </a:xfrm>
          <a:prstGeom prst="line">
            <a:avLst/>
          </a:prstGeom>
          <a:noFill/>
          <a:ln w="25400">
            <a:solidFill>
              <a:srgbClr val="E1D5DB"/>
            </a:solidFill>
            <a:prstDash val="solid"/>
          </a:ln>
        </p:spPr>
      </p:sp>
      <p:sp>
        <p:nvSpPr>
          <p:cNvPr id="14" name="Время marker"/>
          <p:cNvSpPr/>
          <p:nvPr/>
        </p:nvSpPr>
        <p:spPr>
          <a:xfrm>
            <a:off x="6108192" y="1613916"/>
            <a:ext cx="100584" cy="100584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15" name="Время text"/>
          <p:cNvSpPr txBox="1"/>
          <p:nvPr/>
        </p:nvSpPr>
        <p:spPr>
          <a:xfrm>
            <a:off x="6327648" y="1517904"/>
            <a:ext cx="50109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Время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Таймкод и границы эпизода.</a:t>
            </a:r>
            <a:endParaRPr lang="en-US" sz="1900" dirty="0"/>
          </a:p>
        </p:txBody>
      </p:sp>
      <p:sp>
        <p:nvSpPr>
          <p:cNvPr id="16" name="Наблюдаемое marker"/>
          <p:cNvSpPr/>
          <p:nvPr/>
        </p:nvSpPr>
        <p:spPr>
          <a:xfrm>
            <a:off x="6108192" y="2436876"/>
            <a:ext cx="100584" cy="100584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17" name="Наблюдаемое text"/>
          <p:cNvSpPr txBox="1"/>
          <p:nvPr/>
        </p:nvSpPr>
        <p:spPr>
          <a:xfrm>
            <a:off x="6327648" y="2340864"/>
            <a:ext cx="5010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Наблюдаемое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Что именно произошло и какие объекты связаны с событием.</a:t>
            </a:r>
            <a:endParaRPr lang="en-US" sz="1900" dirty="0"/>
          </a:p>
        </p:txBody>
      </p:sp>
      <p:sp>
        <p:nvSpPr>
          <p:cNvPr id="18" name="Основание marker"/>
          <p:cNvSpPr/>
          <p:nvPr/>
        </p:nvSpPr>
        <p:spPr>
          <a:xfrm>
            <a:off x="6108192" y="3406140"/>
            <a:ext cx="100584" cy="100584"/>
          </a:xfrm>
          <a:prstGeom prst="ellipse">
            <a:avLst/>
          </a:prstGeom>
          <a:solidFill>
            <a:srgbClr val="A31551"/>
          </a:solidFill>
          <a:ln w="12700">
            <a:solidFill>
              <a:srgbClr val="A31551"/>
            </a:solidFill>
            <a:prstDash val="solid"/>
          </a:ln>
        </p:spPr>
      </p:sp>
      <p:sp>
        <p:nvSpPr>
          <p:cNvPr id="19" name="Основание text"/>
          <p:cNvSpPr txBox="1"/>
          <p:nvPr/>
        </p:nvSpPr>
        <p:spPr>
          <a:xfrm>
            <a:off x="6327648" y="3310128"/>
            <a:ext cx="5010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Основание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Почему может применяться правило, его источник и ограничения.</a:t>
            </a:r>
            <a:endParaRPr lang="en-US" sz="1900" dirty="0"/>
          </a:p>
        </p:txBody>
      </p:sp>
      <p:sp>
        <p:nvSpPr>
          <p:cNvPr id="20" name="Доказательства marker"/>
          <p:cNvSpPr/>
          <p:nvPr/>
        </p:nvSpPr>
        <p:spPr>
          <a:xfrm>
            <a:off x="6108192" y="4375404"/>
            <a:ext cx="100584" cy="100584"/>
          </a:xfrm>
          <a:prstGeom prst="ellipse">
            <a:avLst/>
          </a:prstGeom>
          <a:solidFill>
            <a:srgbClr val="0B6F99"/>
          </a:solidFill>
          <a:ln w="12700">
            <a:solidFill>
              <a:srgbClr val="0B6F99"/>
            </a:solidFill>
            <a:prstDash val="solid"/>
          </a:ln>
        </p:spPr>
      </p:sp>
      <p:sp>
        <p:nvSpPr>
          <p:cNvPr id="21" name="Доказательства text"/>
          <p:cNvSpPr txBox="1"/>
          <p:nvPr/>
        </p:nvSpPr>
        <p:spPr>
          <a:xfrm>
            <a:off x="6327648" y="4279392"/>
            <a:ext cx="5010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Доказательства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От одного до трёх кадров с исходными временными метками.</a:t>
            </a:r>
            <a:endParaRPr lang="en-US" sz="1900" dirty="0"/>
          </a:p>
        </p:txBody>
      </p:sp>
      <p:sp>
        <p:nvSpPr>
          <p:cNvPr id="22" name="Решение человека marker"/>
          <p:cNvSpPr/>
          <p:nvPr/>
        </p:nvSpPr>
        <p:spPr>
          <a:xfrm>
            <a:off x="6108192" y="5344668"/>
            <a:ext cx="100584" cy="100584"/>
          </a:xfrm>
          <a:prstGeom prst="ellipse">
            <a:avLst/>
          </a:prstGeom>
          <a:solidFill>
            <a:srgbClr val="17704A"/>
          </a:solidFill>
          <a:ln w="12700">
            <a:solidFill>
              <a:srgbClr val="17704A"/>
            </a:solidFill>
            <a:prstDash val="solid"/>
          </a:ln>
        </p:spPr>
      </p:sp>
      <p:sp>
        <p:nvSpPr>
          <p:cNvPr id="23" name="Решение человека text"/>
          <p:cNvSpPr txBox="1"/>
          <p:nvPr/>
        </p:nvSpPr>
        <p:spPr>
          <a:xfrm>
            <a:off x="6327648" y="5248656"/>
            <a:ext cx="501091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Решение человека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Подтвердить, отклонить или отметить: «не видно».</a:t>
            </a:r>
            <a:endParaRPr lang="en-US" sz="1900" dirty="0"/>
          </a:p>
        </p:txBody>
      </p:sp>
      <p:sp>
        <p:nvSpPr>
          <p:cNvPr id="24" name="Output surfaces"/>
          <p:cNvSpPr txBox="1"/>
          <p:nvPr/>
        </p:nvSpPr>
        <p:spPr>
          <a:xfrm>
            <a:off x="694944" y="6163056"/>
            <a:ext cx="4526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Интерфейс · лист проверки · HTTP API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E07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658368" y="438912"/>
            <a:ext cx="46634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Система смотрит</a:t>
            </a:r>
            <a:endParaRPr lang="en-US" sz="3600" dirty="0"/>
          </a:p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 нескольких масштабах</a:t>
            </a:r>
            <a:endParaRPr lang="en-US" sz="3600" dirty="0"/>
          </a:p>
        </p:txBody>
      </p:sp>
      <p:sp>
        <p:nvSpPr>
          <p:cNvPr id="3" name="Technical explanation"/>
          <p:cNvSpPr txBox="1"/>
          <p:nvPr/>
        </p:nvSpPr>
        <p:spPr>
          <a:xfrm>
            <a:off x="694944" y="1700784"/>
            <a:ext cx="4069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0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Один слой уточняет другой, прежде чем наблюдение попадёт в правило.</a:t>
            </a:r>
            <a:endParaRPr lang="en-US" sz="2000" dirty="0"/>
          </a:p>
        </p:txBody>
      </p:sp>
      <p:pic>
        <p:nvPicPr>
          <p:cNvPr id="4" name="Observation lens" descr="Три уровня анализа сходятся в одной проверяемой точке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636008" y="502920"/>
            <a:ext cx="6720840" cy="5477256"/>
          </a:xfrm>
          <a:prstGeom prst="rect">
            <a:avLst/>
          </a:prstGeom>
        </p:spPr>
      </p:pic>
      <p:sp>
        <p:nvSpPr>
          <p:cNvPr id="5" name="Специализированные детекторы marker"/>
          <p:cNvSpPr/>
          <p:nvPr/>
        </p:nvSpPr>
        <p:spPr>
          <a:xfrm>
            <a:off x="694944" y="2866644"/>
            <a:ext cx="100584" cy="100584"/>
          </a:xfrm>
          <a:prstGeom prst="ellipse">
            <a:avLst/>
          </a:prstGeom>
          <a:solidFill>
            <a:srgbClr val="FF6A3D"/>
          </a:solidFill>
          <a:ln w="12700">
            <a:solidFill>
              <a:srgbClr val="FF6A3D"/>
            </a:solidFill>
            <a:prstDash val="solid"/>
          </a:ln>
        </p:spPr>
      </p:sp>
      <p:sp>
        <p:nvSpPr>
          <p:cNvPr id="6" name="Специализированные детекторы text"/>
          <p:cNvSpPr txBox="1"/>
          <p:nvPr/>
        </p:nvSpPr>
        <p:spPr>
          <a:xfrm>
            <a:off x="914400" y="2770632"/>
            <a:ext cx="3895344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Специализированные детекторы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Руки, банкноты, удостоверения и счётчики.</a:t>
            </a:r>
            <a:endParaRPr lang="en-US" sz="1900" dirty="0"/>
          </a:p>
        </p:txBody>
      </p:sp>
      <p:sp>
        <p:nvSpPr>
          <p:cNvPr id="7" name="Qwen3-VL-8B marker"/>
          <p:cNvSpPr/>
          <p:nvPr/>
        </p:nvSpPr>
        <p:spPr>
          <a:xfrm>
            <a:off x="694944" y="3918204"/>
            <a:ext cx="100584" cy="100584"/>
          </a:xfrm>
          <a:prstGeom prst="ellipse">
            <a:avLst/>
          </a:prstGeom>
          <a:solidFill>
            <a:srgbClr val="FC9385"/>
          </a:solidFill>
          <a:ln w="12700">
            <a:solidFill>
              <a:srgbClr val="FC9385"/>
            </a:solidFill>
            <a:prstDash val="solid"/>
          </a:ln>
        </p:spPr>
      </p:sp>
      <p:sp>
        <p:nvSpPr>
          <p:cNvPr id="8" name="Qwen3-VL-8B text"/>
          <p:cNvSpPr txBox="1"/>
          <p:nvPr/>
        </p:nvSpPr>
        <p:spPr>
          <a:xfrm>
            <a:off x="914400" y="3822192"/>
            <a:ext cx="3895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Qwen3-VL-8B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Последовательность кадров, действия и связи между ними.</a:t>
            </a:r>
            <a:endParaRPr lang="en-US" sz="1900" dirty="0"/>
          </a:p>
        </p:txBody>
      </p:sp>
      <p:sp>
        <p:nvSpPr>
          <p:cNvPr id="9" name="Трекинг и временная проверка marker"/>
          <p:cNvSpPr/>
          <p:nvPr/>
        </p:nvSpPr>
        <p:spPr>
          <a:xfrm>
            <a:off x="694944" y="4951476"/>
            <a:ext cx="100584" cy="100584"/>
          </a:xfrm>
          <a:prstGeom prst="ellipse">
            <a:avLst/>
          </a:prstGeom>
          <a:solidFill>
            <a:srgbClr val="61CFFF"/>
          </a:solidFill>
          <a:ln w="12700">
            <a:solidFill>
              <a:srgbClr val="61CFFF"/>
            </a:solidFill>
            <a:prstDash val="solid"/>
          </a:ln>
        </p:spPr>
      </p:sp>
      <p:sp>
        <p:nvSpPr>
          <p:cNvPr id="10" name="Трекинг и временная проверка text"/>
          <p:cNvSpPr txBox="1"/>
          <p:nvPr/>
        </p:nvSpPr>
        <p:spPr>
          <a:xfrm>
            <a:off x="914400" y="4855464"/>
            <a:ext cx="38953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Трекинг и временная проверка</a:t>
            </a:r>
            <a:pPr algn="l" indent="0" marL="0">
              <a:buNone/>
            </a:pPr>
            <a:endParaRPr lang="en-US" sz="1900" dirty="0"/>
          </a:p>
          <a:p>
            <a:pPr algn="l" indent="0" marL="0">
              <a:buNone/>
            </a:pPr>
            <a:r>
              <a:rPr lang="en-US" sz="17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Кто, что и когда; интервалы и ссылки на объекты.</a:t>
            </a:r>
            <a:endParaRPr lang="en-US" sz="1900" dirty="0"/>
          </a:p>
        </p:txBody>
      </p:sp>
      <p:sp>
        <p:nvSpPr>
          <p:cNvPr id="11" name="Private inference statement background"/>
          <p:cNvSpPr/>
          <p:nvPr/>
        </p:nvSpPr>
        <p:spPr>
          <a:xfrm>
            <a:off x="658368" y="5989320"/>
            <a:ext cx="10881360" cy="484632"/>
          </a:xfrm>
          <a:prstGeom prst="roundRect">
            <a:avLst/>
          </a:prstGeom>
          <a:solidFill>
            <a:srgbClr val="3A1225"/>
          </a:solidFill>
          <a:ln w="12700">
            <a:solidFill>
              <a:srgbClr val="3A1225"/>
            </a:solidFill>
            <a:prstDash val="solid"/>
          </a:ln>
        </p:spPr>
      </p:sp>
      <p:sp>
        <p:nvSpPr>
          <p:cNvPr id="12" name="Private inference statement"/>
          <p:cNvSpPr txBox="1"/>
          <p:nvPr/>
        </p:nvSpPr>
        <p:spPr>
          <a:xfrm>
            <a:off x="960120" y="6099048"/>
            <a:ext cx="10287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C938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Частный GPU-контур Modal · NVIDIA L4 24 GB · без внешних AI API для анализа видео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Warm case background" descr="Светлый фон с оранжево-красно-розовым градиентом справа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lide title"/>
          <p:cNvSpPr txBox="1"/>
          <p:nvPr/>
        </p:nvSpPr>
        <p:spPr>
          <a:xfrm>
            <a:off x="658368" y="438912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Найден момент, с которого</a:t>
            </a:r>
            <a:endParaRPr lang="en-US" sz="3500" dirty="0"/>
          </a:p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начинается проверка</a:t>
            </a:r>
            <a:endParaRPr lang="en-US" sz="3500" dirty="0"/>
          </a:p>
        </p:txBody>
      </p:sp>
      <p:sp>
        <p:nvSpPr>
          <p:cNvPr id="4" name="Demonstrated onset"/>
          <p:cNvSpPr txBox="1"/>
          <p:nvPr/>
        </p:nvSpPr>
        <p:spPr>
          <a:xfrm>
            <a:off x="658368" y="1773936"/>
            <a:ext cx="3063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 с</a:t>
            </a:r>
            <a:endParaRPr lang="en-US" sz="6600" dirty="0"/>
          </a:p>
        </p:txBody>
      </p:sp>
      <p:sp>
        <p:nvSpPr>
          <p:cNvPr id="5" name="Onset label"/>
          <p:cNvSpPr txBox="1"/>
          <p:nvPr/>
        </p:nvSpPr>
        <p:spPr>
          <a:xfrm>
            <a:off x="731520" y="278892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таймкод начала эпизода</a:t>
            </a:r>
            <a:endParaRPr lang="en-US" sz="1700" dirty="0"/>
          </a:p>
        </p:txBody>
      </p:sp>
      <p:sp>
        <p:nvSpPr>
          <p:cNvPr id="6" name="Example narrative field"/>
          <p:cNvSpPr/>
          <p:nvPr/>
        </p:nvSpPr>
        <p:spPr>
          <a:xfrm>
            <a:off x="3730752" y="1554480"/>
            <a:ext cx="7726680" cy="148132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1D5DB"/>
            </a:solidFill>
            <a:prstDash val="solid"/>
          </a:ln>
        </p:spPr>
      </p:sp>
      <p:sp>
        <p:nvSpPr>
          <p:cNvPr id="7" name="Observed bag scenario"/>
          <p:cNvSpPr txBox="1"/>
          <p:nvPr/>
        </p:nvSpPr>
        <p:spPr>
          <a:xfrm>
            <a:off x="4041648" y="1810512"/>
            <a:ext cx="71140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Сотрудник дошёл до выхода; та же инкассаторская сумка осталась на рабочем столе без видимого сотрудника рядом.</a:t>
            </a:r>
            <a:endParaRPr lang="en-US" sz="2100" dirty="0"/>
          </a:p>
        </p:txBody>
      </p:sp>
      <p:sp>
        <p:nvSpPr>
          <p:cNvPr id="8" name="HTTP example result"/>
          <p:cNvSpPr txBox="1"/>
          <p:nvPr/>
        </p:nvSpPr>
        <p:spPr>
          <a:xfrm>
            <a:off x="3803904" y="3291840"/>
            <a:ext cx="75438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Работающий HTTP-пример: запись 20,9 с · один эпизод · один кадр-доказательство · схема ответа и JPEG валидны.</a:t>
            </a:r>
            <a:endParaRPr lang="en-US" sz="1800" dirty="0"/>
          </a:p>
        </p:txBody>
      </p:sp>
      <p:sp>
        <p:nvSpPr>
          <p:cNvPr id="9" name="Bag example timeline base"/>
          <p:cNvSpPr/>
          <p:nvPr/>
        </p:nvSpPr>
        <p:spPr>
          <a:xfrm>
            <a:off x="768096" y="4846320"/>
            <a:ext cx="10652760" cy="0"/>
          </a:xfrm>
          <a:prstGeom prst="line">
            <a:avLst/>
          </a:prstGeom>
          <a:noFill/>
          <a:ln w="101600">
            <a:solidFill>
              <a:srgbClr val="E1D5DB"/>
            </a:solidFill>
            <a:prstDash val="solid"/>
          </a:ln>
        </p:spPr>
      </p:sp>
      <p:sp>
        <p:nvSpPr>
          <p:cNvPr id="10" name="Detected event window"/>
          <p:cNvSpPr/>
          <p:nvPr/>
        </p:nvSpPr>
        <p:spPr>
          <a:xfrm>
            <a:off x="8936346" y="4846320"/>
            <a:ext cx="1531547" cy="0"/>
          </a:xfrm>
          <a:prstGeom prst="line">
            <a:avLst/>
          </a:prstGeom>
          <a:noFill/>
          <a:ln w="152400">
            <a:solidFill>
              <a:srgbClr val="FC9385"/>
            </a:solidFill>
            <a:prstDash val="solid"/>
          </a:ln>
        </p:spPr>
      </p:sp>
      <p:sp>
        <p:nvSpPr>
          <p:cNvPr id="11" name="Detected onset line"/>
          <p:cNvSpPr/>
          <p:nvPr/>
        </p:nvSpPr>
        <p:spPr>
          <a:xfrm>
            <a:off x="8936346" y="4279392"/>
            <a:ext cx="0" cy="1078992"/>
          </a:xfrm>
          <a:prstGeom prst="line">
            <a:avLst/>
          </a:prstGeom>
          <a:noFill/>
          <a:ln w="50800">
            <a:solidFill>
              <a:srgbClr val="A31551"/>
            </a:solidFill>
            <a:prstDash val="solid"/>
          </a:ln>
        </p:spPr>
      </p:sp>
      <p:sp>
        <p:nvSpPr>
          <p:cNvPr id="12" name="Detected onset dot"/>
          <p:cNvSpPr/>
          <p:nvPr/>
        </p:nvSpPr>
        <p:spPr>
          <a:xfrm>
            <a:off x="8835762" y="4745736"/>
            <a:ext cx="201168" cy="201168"/>
          </a:xfrm>
          <a:prstGeom prst="ellipse">
            <a:avLst/>
          </a:prstGeom>
          <a:solidFill>
            <a:srgbClr val="A31551"/>
          </a:solidFill>
          <a:ln w="12700">
            <a:solidFill>
              <a:srgbClr val="A31551"/>
            </a:solidFill>
            <a:prstDash val="solid"/>
          </a:ln>
        </p:spPr>
      </p:sp>
      <p:sp>
        <p:nvSpPr>
          <p:cNvPr id="13" name="Onset tick label"/>
          <p:cNvSpPr txBox="1"/>
          <p:nvPr/>
        </p:nvSpPr>
        <p:spPr>
          <a:xfrm>
            <a:off x="8534010" y="3886200"/>
            <a:ext cx="804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16,0</a:t>
            </a:r>
            <a:endParaRPr lang="en-US" sz="1700" dirty="0"/>
          </a:p>
        </p:txBody>
      </p:sp>
      <p:sp>
        <p:nvSpPr>
          <p:cNvPr id="14" name="Window end label"/>
          <p:cNvSpPr txBox="1"/>
          <p:nvPr/>
        </p:nvSpPr>
        <p:spPr>
          <a:xfrm>
            <a:off x="10083845" y="5047488"/>
            <a:ext cx="768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5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500" dirty="0"/>
          </a:p>
        </p:txBody>
      </p:sp>
      <p:sp>
        <p:nvSpPr>
          <p:cNvPr id="15" name="Timeline start label"/>
          <p:cNvSpPr txBox="1"/>
          <p:nvPr/>
        </p:nvSpPr>
        <p:spPr>
          <a:xfrm>
            <a:off x="694944" y="504748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00:00</a:t>
            </a:r>
            <a:endParaRPr lang="en-US" sz="1500" dirty="0"/>
          </a:p>
        </p:txBody>
      </p:sp>
      <p:sp>
        <p:nvSpPr>
          <p:cNvPr id="16" name="Timeline duration label"/>
          <p:cNvSpPr txBox="1"/>
          <p:nvPr/>
        </p:nvSpPr>
        <p:spPr>
          <a:xfrm>
            <a:off x="10707624" y="5047488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buNone/>
            </a:pPr>
            <a:r>
              <a:rPr lang="en-US" sz="15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20,9 с</a:t>
            </a:r>
            <a:endParaRPr lang="en-US" sz="1500" dirty="0"/>
          </a:p>
        </p:txBody>
      </p:sp>
      <p:sp>
        <p:nvSpPr>
          <p:cNvPr id="17" name="Prior bag visibility label"/>
          <p:cNvSpPr txBox="1"/>
          <p:nvPr/>
        </p:nvSpPr>
        <p:spPr>
          <a:xfrm>
            <a:off x="4800600" y="431596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dirty="0">
                <a:solidFill>
                  <a:srgbClr val="6B576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до ухода сумка видна</a:t>
            </a:r>
            <a:endParaRPr lang="en-US" sz="1600" dirty="0"/>
          </a:p>
        </p:txBody>
      </p:sp>
      <p:sp>
        <p:nvSpPr>
          <p:cNvPr id="18" name="Confirmed window label"/>
          <p:cNvSpPr txBox="1"/>
          <p:nvPr/>
        </p:nvSpPr>
        <p:spPr>
          <a:xfrm>
            <a:off x="7976226" y="5394960"/>
            <a:ext cx="2148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событие подтверждено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совпадающими кадрами</a:t>
            </a:r>
            <a:endParaRPr lang="en-US" sz="1600" dirty="0"/>
          </a:p>
        </p:txBody>
      </p:sp>
      <p:sp>
        <p:nvSpPr>
          <p:cNvPr id="19" name="Example result background"/>
          <p:cNvSpPr/>
          <p:nvPr/>
        </p:nvSpPr>
        <p:spPr>
          <a:xfrm>
            <a:off x="694944" y="6099048"/>
            <a:ext cx="10808208" cy="438912"/>
          </a:xfrm>
          <a:prstGeom prst="rect">
            <a:avLst/>
          </a:prstGeom>
          <a:solidFill>
            <a:srgbClr val="A31551">
              <a:alpha val="6000"/>
            </a:srgbClr>
          </a:solidFill>
          <a:ln w="12700">
            <a:solidFill>
              <a:srgbClr val="A31551">
                <a:alpha val="0"/>
              </a:srgbClr>
            </a:solidFill>
            <a:prstDash val="solid"/>
          </a:ln>
        </p:spPr>
      </p:sp>
      <p:sp>
        <p:nvSpPr>
          <p:cNvPr id="20" name="Example result statement"/>
          <p:cNvSpPr txBox="1"/>
          <p:nvPr/>
        </p:nvSpPr>
        <p:spPr>
          <a:xfrm>
            <a:off x="932688" y="6190488"/>
            <a:ext cx="103510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Результат начинается в 16,0 с — с момента совпадения условий сценария.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CFA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title"/>
          <p:cNvSpPr txBox="1"/>
          <p:nvPr/>
        </p:nvSpPr>
        <p:spPr>
          <a:xfrm>
            <a:off x="658368" y="438912"/>
            <a:ext cx="8321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Контроль остаётся внутри контура</a:t>
            </a:r>
            <a:endParaRPr lang="en-US" sz="3500" dirty="0"/>
          </a:p>
          <a:p>
            <a:pPr algn="l" indent="0" marL="0">
              <a:buNone/>
            </a:pPr>
            <a:r>
              <a:rPr lang="en-US" sz="35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и внутри регламента</a:t>
            </a:r>
            <a:endParaRPr lang="en-US" sz="3500" dirty="0"/>
          </a:p>
        </p:txBody>
      </p:sp>
      <p:pic>
        <p:nvPicPr>
          <p:cNvPr id="3" name="Trust weave" descr="Переплетение контура данных и контура правил вокруг решения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971800" y="1490472"/>
            <a:ext cx="6172200" cy="3767328"/>
          </a:xfrm>
          <a:prstGeom prst="rect">
            <a:avLst/>
          </a:prstGeom>
        </p:spPr>
      </p:pic>
      <p:sp>
        <p:nvSpPr>
          <p:cNvPr id="4" name="Data boundary heading"/>
          <p:cNvSpPr txBox="1"/>
          <p:nvPr/>
        </p:nvSpPr>
        <p:spPr>
          <a:xfrm>
            <a:off x="694944" y="18288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0B6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Данные и модели</a:t>
            </a:r>
            <a:endParaRPr lang="en-US" sz="2100" dirty="0"/>
          </a:p>
        </p:txBody>
      </p:sp>
      <p:sp>
        <p:nvSpPr>
          <p:cNvPr id="5" name="Data boundary copy"/>
          <p:cNvSpPr txBox="1"/>
          <p:nvPr/>
        </p:nvSpPr>
        <p:spPr>
          <a:xfrm>
            <a:off x="694944" y="2395728"/>
            <a:ext cx="25054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Видео, веса и результаты остаются в частном контуре проекта в Modal. Анализ не требует внешних AI API.</a:t>
            </a:r>
            <a:endParaRPr lang="en-US" sz="1800" dirty="0"/>
          </a:p>
        </p:txBody>
      </p:sp>
      <p:sp>
        <p:nvSpPr>
          <p:cNvPr id="6" name="API key fact"/>
          <p:cNvSpPr txBox="1"/>
          <p:nvPr/>
        </p:nvSpPr>
        <p:spPr>
          <a:xfrm>
            <a:off x="694944" y="4224528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B6F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 API защищён ключом</a:t>
            </a:r>
            <a:endParaRPr lang="en-US" sz="1700" dirty="0"/>
          </a:p>
        </p:txBody>
      </p:sp>
      <p:sp>
        <p:nvSpPr>
          <p:cNvPr id="7" name="Rules boundary heading"/>
          <p:cNvSpPr txBox="1"/>
          <p:nvPr/>
        </p:nvSpPr>
        <p:spPr>
          <a:xfrm>
            <a:off x="9162288" y="1828800"/>
            <a:ext cx="2331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Правила и решения</a:t>
            </a:r>
            <a:endParaRPr lang="en-US" sz="2100" dirty="0"/>
          </a:p>
        </p:txBody>
      </p:sp>
      <p:sp>
        <p:nvSpPr>
          <p:cNvPr id="8" name="Rules boundary copy"/>
          <p:cNvSpPr txBox="1"/>
          <p:nvPr/>
        </p:nvSpPr>
        <p:spPr>
          <a:xfrm>
            <a:off x="9162288" y="2395728"/>
            <a:ext cx="23317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Условия, источники и ограничения хранятся отдельно от модели. Решение проверяющего сохраняется отдельной ревизией.</a:t>
            </a:r>
            <a:endParaRPr lang="en-US" sz="1800" dirty="0"/>
          </a:p>
        </p:txBody>
      </p:sp>
      <p:sp>
        <p:nvSpPr>
          <p:cNvPr id="9" name="Reviewability fact"/>
          <p:cNvSpPr txBox="1"/>
          <p:nvPr/>
        </p:nvSpPr>
        <p:spPr>
          <a:xfrm>
            <a:off x="9162288" y="4224528"/>
            <a:ext cx="23317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A3155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Вывод можно пересмотреть и объяснить</a:t>
            </a:r>
            <a:endParaRPr lang="en-US" sz="1700" dirty="0"/>
          </a:p>
        </p:txBody>
      </p:sp>
      <p:sp>
        <p:nvSpPr>
          <p:cNvPr id="10" name="Trust closing rule"/>
          <p:cNvSpPr/>
          <p:nvPr/>
        </p:nvSpPr>
        <p:spPr>
          <a:xfrm>
            <a:off x="694944" y="5577840"/>
            <a:ext cx="10789920" cy="0"/>
          </a:xfrm>
          <a:prstGeom prst="line">
            <a:avLst/>
          </a:prstGeom>
          <a:noFill/>
          <a:ln w="25400">
            <a:solidFill>
              <a:srgbClr val="E1D5DB"/>
            </a:solidFill>
            <a:prstDash val="solid"/>
          </a:ln>
        </p:spPr>
      </p:sp>
      <p:sp>
        <p:nvSpPr>
          <p:cNvPr id="11" name="Governance statement"/>
          <p:cNvSpPr txBox="1"/>
          <p:nvPr/>
        </p:nvSpPr>
        <p:spPr>
          <a:xfrm>
            <a:off x="969264" y="5797296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2A0A1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Автоматические наблюдения не подменяют решение специалиста.</a:t>
            </a:r>
            <a:endParaRPr lang="en-US" sz="2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07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concept art" descr="Синтетическая концептуальная иллюстрация: киноплёнка и оптическое кольц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osing gradient field" descr="Оранжево-красно-розовое градиентное поле">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0"/>
            <a:ext cx="6126480" cy="6858000"/>
          </a:xfrm>
          <a:prstGeom prst="rect">
            <a:avLst/>
          </a:prstGeom>
        </p:spPr>
      </p:pic>
      <p:pic>
        <p:nvPicPr>
          <p:cNvPr id="4" name="Lado stage logo" descr="Lado">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58368" y="502920"/>
            <a:ext cx="1810512" cy="585216"/>
          </a:xfrm>
          <a:prstGeom prst="rect">
            <a:avLst/>
          </a:prstGeom>
        </p:spPr>
      </p:pic>
      <p:sp>
        <p:nvSpPr>
          <p:cNvPr id="5" name="Closing title"/>
          <p:cNvSpPr txBox="1"/>
          <p:nvPr/>
        </p:nvSpPr>
        <p:spPr>
          <a:xfrm>
            <a:off x="658368" y="1399032"/>
            <a:ext cx="5257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Проверим Lado</a:t>
            </a:r>
            <a:endParaRPr lang="en-US" sz="3900" dirty="0"/>
          </a:p>
          <a:p>
            <a:pPr algn="l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на ваших сценариях</a:t>
            </a:r>
            <a:endParaRPr lang="en-US" sz="3900" dirty="0"/>
          </a:p>
        </p:txBody>
      </p:sp>
      <p:sp>
        <p:nvSpPr>
          <p:cNvPr id="6" name="Pilot step 1"/>
          <p:cNvSpPr txBox="1"/>
          <p:nvPr/>
        </p:nvSpPr>
        <p:spPr>
          <a:xfrm>
            <a:off x="1033272" y="3072384"/>
            <a:ext cx="45354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Подключить запись или сервис через HTTP API</a:t>
            </a:r>
            <a:endParaRPr lang="en-US" sz="1900" dirty="0"/>
          </a:p>
        </p:txBody>
      </p:sp>
      <p:sp>
        <p:nvSpPr>
          <p:cNvPr id="7" name="Pilot marker 1"/>
          <p:cNvSpPr/>
          <p:nvPr/>
        </p:nvSpPr>
        <p:spPr>
          <a:xfrm>
            <a:off x="704088" y="3273552"/>
            <a:ext cx="182880" cy="0"/>
          </a:xfrm>
          <a:prstGeom prst="line">
            <a:avLst/>
          </a:prstGeom>
          <a:noFill/>
          <a:ln w="63500">
            <a:solidFill>
              <a:srgbClr val="FF6A3D"/>
            </a:solidFill>
            <a:prstDash val="solid"/>
          </a:ln>
        </p:spPr>
      </p:sp>
      <p:sp>
        <p:nvSpPr>
          <p:cNvPr id="8" name="Pilot step 2"/>
          <p:cNvSpPr txBox="1"/>
          <p:nvPr/>
        </p:nvSpPr>
        <p:spPr>
          <a:xfrm>
            <a:off x="1033272" y="3739896"/>
            <a:ext cx="453542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Согласовать критерии и источники под процедуру контроля</a:t>
            </a:r>
            <a:endParaRPr lang="en-US" sz="1900" dirty="0"/>
          </a:p>
        </p:txBody>
      </p:sp>
      <p:sp>
        <p:nvSpPr>
          <p:cNvPr id="9" name="Pilot marker 2"/>
          <p:cNvSpPr/>
          <p:nvPr/>
        </p:nvSpPr>
        <p:spPr>
          <a:xfrm>
            <a:off x="704088" y="3968496"/>
            <a:ext cx="182880" cy="0"/>
          </a:xfrm>
          <a:prstGeom prst="line">
            <a:avLst/>
          </a:prstGeom>
          <a:noFill/>
          <a:ln w="63500">
            <a:solidFill>
              <a:srgbClr val="FC9385"/>
            </a:solidFill>
            <a:prstDash val="solid"/>
          </a:ln>
        </p:spPr>
      </p:sp>
      <p:sp>
        <p:nvSpPr>
          <p:cNvPr id="10" name="Pilot step 3"/>
          <p:cNvSpPr txBox="1"/>
          <p:nvPr/>
        </p:nvSpPr>
        <p:spPr>
          <a:xfrm>
            <a:off x="1033272" y="4498848"/>
            <a:ext cx="453542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Проверять эпизоды и сохранять решения</a:t>
            </a:r>
            <a:endParaRPr lang="en-US" sz="1900" dirty="0"/>
          </a:p>
        </p:txBody>
      </p:sp>
      <p:sp>
        <p:nvSpPr>
          <p:cNvPr id="11" name="Pilot marker 3"/>
          <p:cNvSpPr/>
          <p:nvPr/>
        </p:nvSpPr>
        <p:spPr>
          <a:xfrm>
            <a:off x="704088" y="4700016"/>
            <a:ext cx="182880" cy="0"/>
          </a:xfrm>
          <a:prstGeom prst="line">
            <a:avLst/>
          </a:prstGeom>
          <a:noFill/>
          <a:ln w="63500">
            <a:solidFill>
              <a:srgbClr val="61CFFF"/>
            </a:solidFill>
            <a:prstDash val="solid"/>
          </a:ln>
        </p:spPr>
      </p:sp>
      <p:sp>
        <p:nvSpPr>
          <p:cNvPr id="12" name="Closing app link">
            <a:hlinkClick r:id="rId6" tooltip=""/>
          </p:cNvPr>
          <p:cNvSpPr txBox="1"/>
          <p:nvPr/>
        </p:nvSpPr>
        <p:spPr>
          <a:xfrm>
            <a:off x="694944" y="5614416"/>
            <a:ext cx="2057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FC9385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Открыть Lado ↗</a:t>
            </a:r>
            <a:endParaRPr lang="en-US" sz="1800" dirty="0"/>
          </a:p>
        </p:txBody>
      </p:sp>
      <p:sp>
        <p:nvSpPr>
          <p:cNvPr id="13" name="Closing repository link">
            <a:hlinkClick r:id="rId7" tooltip=""/>
          </p:cNvPr>
          <p:cNvSpPr txBox="1"/>
          <p:nvPr/>
        </p:nvSpPr>
        <p:spPr>
          <a:xfrm>
            <a:off x="2962656" y="5614416"/>
            <a:ext cx="1874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800" b="1" u="sng" dirty="0">
                <a:solidFill>
                  <a:srgbClr val="61C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Репозиторий ↗</a:t>
            </a:r>
            <a:endParaRPr lang="en-US" sz="1800" dirty="0"/>
          </a:p>
        </p:txBody>
      </p:sp>
      <p:sp>
        <p:nvSpPr>
          <p:cNvPr id="14" name="Repository access note"/>
          <p:cNvSpPr txBox="1"/>
          <p:nvPr/>
        </p:nvSpPr>
        <p:spPr>
          <a:xfrm>
            <a:off x="694944" y="6190488"/>
            <a:ext cx="4434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300" dirty="0">
                <a:solidFill>
                  <a:srgbClr val="CDB6C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Репозиторий закрытый; доступ по приглашению.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Lado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Lado — Всё важное на виду</dc:title>
  <dc:subject>Проверка кассовых операций по видеозаписи</dc:subject>
  <dc:creator>Lado</dc:creator>
  <cp:lastModifiedBy>Lado</cp:lastModifiedBy>
  <cp:revision>1</cp:revision>
  <dcterms:created xsi:type="dcterms:W3CDTF">2026-10-18T04:27:01Z</dcterms:created>
  <dcterms:modified xsi:type="dcterms:W3CDTF">2026-10-18T04:27:01Z</dcterms:modified>
</cp:coreProperties>
</file>